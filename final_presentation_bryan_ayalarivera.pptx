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1"/>
  </p:notesMasterIdLst>
  <p:sldIdLst>
    <p:sldId id="256" r:id="rId2"/>
    <p:sldId id="257" r:id="rId3"/>
    <p:sldId id="258" r:id="rId4"/>
    <p:sldId id="259" r:id="rId5"/>
    <p:sldId id="264" r:id="rId6"/>
    <p:sldId id="261" r:id="rId7"/>
    <p:sldId id="260" r:id="rId8"/>
    <p:sldId id="262" r:id="rId9"/>
    <p:sldId id="263" r:id="rId10"/>
  </p:sldIdLst>
  <p:sldSz cx="18288000" cy="10287000"/>
  <p:notesSz cx="6858000" cy="9144000"/>
  <p:embeddedFontLst>
    <p:embeddedFont>
      <p:font typeface="Adobe Caslon Pro" panose="020B0604020202020204" charset="0"/>
      <p:regular r:id="rId12"/>
    </p:embeddedFont>
    <p:embeddedFont>
      <p:font typeface="Archivo Black" panose="020B0604020202020204" charset="0"/>
      <p:regular r:id="rId13"/>
    </p:embeddedFont>
    <p:embeddedFont>
      <p:font typeface="League Spartan"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71671" autoAdjust="0"/>
  </p:normalViewPr>
  <p:slideViewPr>
    <p:cSldViewPr>
      <p:cViewPr>
        <p:scale>
          <a:sx n="41" d="100"/>
          <a:sy n="41" d="100"/>
        </p:scale>
        <p:origin x="1896" y="4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6BBE83-259C-4936-BC4D-27911F103F1C}" type="datetimeFigureOut">
              <a:rPr lang="en-US" smtClean="0"/>
              <a:t>11/24/2025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CAB21F-9361-4364-93CD-D821D18F27F9}" type="slidenum">
              <a:rPr lang="en-US" smtClean="0"/>
              <a:t>‹#›</a:t>
            </a:fld>
            <a:endParaRPr lang="en-US"/>
          </a:p>
        </p:txBody>
      </p:sp>
    </p:spTree>
    <p:extLst>
      <p:ext uri="{BB962C8B-B14F-4D97-AF65-F5344CB8AC3E}">
        <p14:creationId xmlns:p14="http://schemas.microsoft.com/office/powerpoint/2010/main" val="30161859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my name is Bryan Ayala-Rivera. </a:t>
            </a:r>
          </a:p>
          <a:p>
            <a:endParaRPr lang="en-US" dirty="0"/>
          </a:p>
          <a:p>
            <a:r>
              <a:rPr lang="en-US" dirty="0"/>
              <a:t>I am a part-time DEN Student and full time USC employee. </a:t>
            </a:r>
          </a:p>
          <a:p>
            <a:endParaRPr lang="en-US" dirty="0"/>
          </a:p>
          <a:p>
            <a:r>
              <a:rPr lang="en-US" dirty="0"/>
              <a:t>I am also a huge baseball fan and love the Dodgers so I wanted my project to look at data in Major League Baseball.</a:t>
            </a:r>
          </a:p>
          <a:p>
            <a:endParaRPr lang="en-US" dirty="0"/>
          </a:p>
          <a:p>
            <a:r>
              <a:rPr lang="en-US" dirty="0"/>
              <a:t>My final project presentation looks to answer the question Do MLB Umpire Ejections Affect Win Percentages?</a:t>
            </a:r>
          </a:p>
        </p:txBody>
      </p:sp>
      <p:sp>
        <p:nvSpPr>
          <p:cNvPr id="4" name="Slide Number Placeholder 3"/>
          <p:cNvSpPr>
            <a:spLocks noGrp="1"/>
          </p:cNvSpPr>
          <p:nvPr>
            <p:ph type="sldNum" sz="quarter" idx="5"/>
          </p:nvPr>
        </p:nvSpPr>
        <p:spPr/>
        <p:txBody>
          <a:bodyPr/>
          <a:lstStyle/>
          <a:p>
            <a:fld id="{9DCAB21F-9361-4364-93CD-D821D18F27F9}" type="slidenum">
              <a:rPr lang="en-US" smtClean="0"/>
              <a:t>1</a:t>
            </a:fld>
            <a:endParaRPr lang="en-US"/>
          </a:p>
        </p:txBody>
      </p:sp>
    </p:spTree>
    <p:extLst>
      <p:ext uri="{BB962C8B-B14F-4D97-AF65-F5344CB8AC3E}">
        <p14:creationId xmlns:p14="http://schemas.microsoft.com/office/powerpoint/2010/main" val="52406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Joe West</a:t>
            </a:r>
          </a:p>
          <a:p>
            <a:r>
              <a:rPr lang="en-US" sz="1200" b="0" i="0" kern="1200" dirty="0">
                <a:solidFill>
                  <a:schemeClr val="tx1"/>
                </a:solidFill>
                <a:effectLst/>
                <a:latin typeface="+mn-lt"/>
                <a:ea typeface="+mn-ea"/>
                <a:cs typeface="+mn-cs"/>
              </a:rPr>
              <a:t>-umpire who officiated from 1976 to 2021</a:t>
            </a:r>
          </a:p>
          <a:p>
            <a:r>
              <a:rPr lang="en-US" sz="1200" b="0" i="0" kern="1200" dirty="0">
                <a:solidFill>
                  <a:schemeClr val="tx1"/>
                </a:solidFill>
                <a:effectLst/>
                <a:latin typeface="+mn-lt"/>
                <a:ea typeface="+mn-ea"/>
                <a:cs typeface="+mn-cs"/>
              </a:rPr>
              <a:t>-reputation for being difficult or arrogant</a:t>
            </a:r>
          </a:p>
          <a:p>
            <a:r>
              <a:rPr lang="en-US" sz="1200" b="0" i="0" kern="1200" dirty="0">
                <a:solidFill>
                  <a:schemeClr val="tx1"/>
                </a:solidFill>
                <a:effectLst/>
                <a:latin typeface="+mn-lt"/>
                <a:ea typeface="+mn-ea"/>
                <a:cs typeface="+mn-cs"/>
              </a:rPr>
              <a:t>-short fuse, with a tendency to eject players and managers</a:t>
            </a: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Main point about ejections</a:t>
            </a:r>
          </a:p>
          <a:p>
            <a:r>
              <a:rPr lang="en-US" sz="1200" b="0" i="0" kern="1200" dirty="0">
                <a:solidFill>
                  <a:schemeClr val="tx1"/>
                </a:solidFill>
                <a:effectLst/>
                <a:latin typeface="+mn-lt"/>
                <a:ea typeface="+mn-ea"/>
                <a:cs typeface="+mn-cs"/>
              </a:rPr>
              <a:t>-ejections can be given out by an umpire at any time in a game</a:t>
            </a:r>
          </a:p>
          <a:p>
            <a:r>
              <a:rPr lang="en-US" sz="1200" b="0" i="0" kern="1200" dirty="0">
                <a:solidFill>
                  <a:schemeClr val="tx1"/>
                </a:solidFill>
                <a:effectLst/>
                <a:latin typeface="+mn-lt"/>
                <a:ea typeface="+mn-ea"/>
                <a:cs typeface="+mn-cs"/>
              </a:rPr>
              <a:t>-ejections cannot be challenged, umpires have the final say</a:t>
            </a:r>
          </a:p>
          <a:p>
            <a:endParaRPr lang="en-US" dirty="0"/>
          </a:p>
        </p:txBody>
      </p:sp>
      <p:sp>
        <p:nvSpPr>
          <p:cNvPr id="4" name="Slide Number Placeholder 3"/>
          <p:cNvSpPr>
            <a:spLocks noGrp="1"/>
          </p:cNvSpPr>
          <p:nvPr>
            <p:ph type="sldNum" sz="quarter" idx="5"/>
          </p:nvPr>
        </p:nvSpPr>
        <p:spPr/>
        <p:txBody>
          <a:bodyPr/>
          <a:lstStyle/>
          <a:p>
            <a:fld id="{9DCAB21F-9361-4364-93CD-D821D18F27F9}" type="slidenum">
              <a:rPr lang="en-US" smtClean="0"/>
              <a:t>2</a:t>
            </a:fld>
            <a:endParaRPr lang="en-US"/>
          </a:p>
        </p:txBody>
      </p:sp>
    </p:spTree>
    <p:extLst>
      <p:ext uri="{BB962C8B-B14F-4D97-AF65-F5344CB8AC3E}">
        <p14:creationId xmlns:p14="http://schemas.microsoft.com/office/powerpoint/2010/main" val="17404517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CAB21F-9361-4364-93CD-D821D18F27F9}" type="slidenum">
              <a:rPr lang="en-US" smtClean="0"/>
              <a:t>3</a:t>
            </a:fld>
            <a:endParaRPr lang="en-US"/>
          </a:p>
        </p:txBody>
      </p:sp>
    </p:spTree>
    <p:extLst>
      <p:ext uri="{BB962C8B-B14F-4D97-AF65-F5344CB8AC3E}">
        <p14:creationId xmlns:p14="http://schemas.microsoft.com/office/powerpoint/2010/main" val="4202569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9DCAB21F-9361-4364-93CD-D821D18F27F9}" type="slidenum">
              <a:rPr lang="en-US" smtClean="0"/>
              <a:t>4</a:t>
            </a:fld>
            <a:endParaRPr lang="en-US"/>
          </a:p>
        </p:txBody>
      </p:sp>
    </p:spTree>
    <p:extLst>
      <p:ext uri="{BB962C8B-B14F-4D97-AF65-F5344CB8AC3E}">
        <p14:creationId xmlns:p14="http://schemas.microsoft.com/office/powerpoint/2010/main" val="9475653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D6734-3F42-6CCA-A5B5-718F24CC52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2C1B27-AF5B-8171-906D-B12AD7F3A4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4DA85B-87E1-6E85-830F-1E4D0DF564A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"Dead-ball" Era Rules</a:t>
            </a:r>
            <a:r>
              <a:rPr lang="en-US" sz="1200" b="0" i="0" kern="1200" dirty="0">
                <a:solidFill>
                  <a:schemeClr val="tx1"/>
                </a:solidFill>
                <a:effectLst/>
                <a:latin typeface="+mn-lt"/>
                <a:ea typeface="+mn-ea"/>
                <a:cs typeface="+mn-cs"/>
              </a:rPr>
              <a:t>: The "dead-ball" era (roughly 1900–1920) featured a single ball being used for an entire game, which became scuffed, soft, and dirty, making it difficult for batters to hit. Pitchers were also allowed to doctor the ball (e.g., the spitball), further frustrating hitters and creating an environment where players felt the need to constantly argue calls and the condition of the ball.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Babe Ruth 1914-1935</a:t>
            </a:r>
          </a:p>
          <a:p>
            <a:endParaRPr lang="en-US" dirty="0"/>
          </a:p>
          <a:p>
            <a:r>
              <a:rPr lang="en-US" dirty="0"/>
              <a:t>2020 – drop in ejections due to COVID</a:t>
            </a:r>
          </a:p>
          <a:p>
            <a:endParaRPr lang="en-US" dirty="0"/>
          </a:p>
          <a:p>
            <a:r>
              <a:rPr lang="en-US" dirty="0"/>
              <a:t>See a steady rise in ejections as more games play on</a:t>
            </a:r>
          </a:p>
          <a:p>
            <a:endParaRPr lang="en-US" dirty="0"/>
          </a:p>
          <a:p>
            <a:r>
              <a:rPr lang="en-US" dirty="0"/>
              <a:t>Overlap for UMPSCORE CARD 2015-2022</a:t>
            </a:r>
          </a:p>
        </p:txBody>
      </p:sp>
      <p:sp>
        <p:nvSpPr>
          <p:cNvPr id="4" name="Slide Number Placeholder 3">
            <a:extLst>
              <a:ext uri="{FF2B5EF4-FFF2-40B4-BE49-F238E27FC236}">
                <a16:creationId xmlns:a16="http://schemas.microsoft.com/office/drawing/2014/main" id="{5859B1AE-65BB-2AA9-207B-9739BA4E5C42}"/>
              </a:ext>
            </a:extLst>
          </p:cNvPr>
          <p:cNvSpPr>
            <a:spLocks noGrp="1"/>
          </p:cNvSpPr>
          <p:nvPr>
            <p:ph type="sldNum" sz="quarter" idx="5"/>
          </p:nvPr>
        </p:nvSpPr>
        <p:spPr/>
        <p:txBody>
          <a:bodyPr/>
          <a:lstStyle/>
          <a:p>
            <a:fld id="{9DCAB21F-9361-4364-93CD-D821D18F27F9}" type="slidenum">
              <a:rPr lang="en-US" smtClean="0"/>
              <a:t>5</a:t>
            </a:fld>
            <a:endParaRPr lang="en-US"/>
          </a:p>
        </p:txBody>
      </p:sp>
    </p:spTree>
    <p:extLst>
      <p:ext uri="{BB962C8B-B14F-4D97-AF65-F5344CB8AC3E}">
        <p14:creationId xmlns:p14="http://schemas.microsoft.com/office/powerpoint/2010/main" val="28218581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CAB21F-9361-4364-93CD-D821D18F27F9}" type="slidenum">
              <a:rPr lang="en-US" smtClean="0"/>
              <a:t>6</a:t>
            </a:fld>
            <a:endParaRPr lang="en-US"/>
          </a:p>
        </p:txBody>
      </p:sp>
    </p:spTree>
    <p:extLst>
      <p:ext uri="{BB962C8B-B14F-4D97-AF65-F5344CB8AC3E}">
        <p14:creationId xmlns:p14="http://schemas.microsoft.com/office/powerpoint/2010/main" val="38811818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CAB21F-9361-4364-93CD-D821D18F27F9}" type="slidenum">
              <a:rPr lang="en-US" smtClean="0"/>
              <a:t>7</a:t>
            </a:fld>
            <a:endParaRPr lang="en-US"/>
          </a:p>
        </p:txBody>
      </p:sp>
    </p:spTree>
    <p:extLst>
      <p:ext uri="{BB962C8B-B14F-4D97-AF65-F5344CB8AC3E}">
        <p14:creationId xmlns:p14="http://schemas.microsoft.com/office/powerpoint/2010/main" val="23656494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
        <p:nvSpPr>
          <p:cNvPr id="8" name="TextBox 7">
            <a:extLst>
              <a:ext uri="{FF2B5EF4-FFF2-40B4-BE49-F238E27FC236}">
                <a16:creationId xmlns:a16="http://schemas.microsoft.com/office/drawing/2014/main" id="{39C9411D-1629-8581-DBF1-A5AE1DE823D2}"/>
              </a:ext>
            </a:extLst>
          </p:cNvPr>
          <p:cNvSpPr txBox="1"/>
          <p:nvPr userDrawn="1">
            <p:extLst>
              <p:ext uri="{1162E1C5-73C7-4A58-AE30-91384D911F3F}">
                <p184:classification xmlns:p184="http://schemas.microsoft.com/office/powerpoint/2018/4/main" val="ftr"/>
              </p:ext>
            </p:extLst>
          </p:nvPr>
        </p:nvSpPr>
        <p:spPr>
          <a:xfrm>
            <a:off x="8866188" y="10071100"/>
            <a:ext cx="581025"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INTERNAL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gif"/><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hyperlink" Target="https://www.kaggle.com/datasets/mattop/mlb-baseball-umpire-scorecards-2015-2022?select=mlb-umpire-scorecard.csv" TargetMode="External"/><Relationship Id="rId4" Type="http://schemas.openxmlformats.org/officeDocument/2006/relationships/hyperlink" Target="https://www.retrosheet.org/eject.htm"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764570" y="3486674"/>
            <a:ext cx="19817140" cy="2397559"/>
            <a:chOff x="0" y="0"/>
            <a:chExt cx="5219329" cy="631456"/>
          </a:xfrm>
        </p:grpSpPr>
        <p:sp>
          <p:nvSpPr>
            <p:cNvPr id="4" name="Freeform 4"/>
            <p:cNvSpPr/>
            <p:nvPr/>
          </p:nvSpPr>
          <p:spPr>
            <a:xfrm>
              <a:off x="0" y="0"/>
              <a:ext cx="5219329" cy="631456"/>
            </a:xfrm>
            <a:custGeom>
              <a:avLst/>
              <a:gdLst/>
              <a:ahLst/>
              <a:cxnLst/>
              <a:rect l="l" t="t" r="r" b="b"/>
              <a:pathLst>
                <a:path w="5219329" h="631456">
                  <a:moveTo>
                    <a:pt x="0" y="0"/>
                  </a:moveTo>
                  <a:lnTo>
                    <a:pt x="5219329" y="0"/>
                  </a:lnTo>
                  <a:lnTo>
                    <a:pt x="5219329" y="631456"/>
                  </a:lnTo>
                  <a:lnTo>
                    <a:pt x="0" y="631456"/>
                  </a:lnTo>
                  <a:close/>
                </a:path>
              </a:pathLst>
            </a:custGeom>
            <a:solidFill>
              <a:srgbClr val="01529B"/>
            </a:solidFill>
            <a:ln w="161925" cap="sq">
              <a:solidFill>
                <a:srgbClr val="FEFEFE"/>
              </a:solidFill>
              <a:prstDash val="solid"/>
              <a:miter/>
            </a:ln>
          </p:spPr>
          <p:txBody>
            <a:bodyPr/>
            <a:lstStyle/>
            <a:p>
              <a:endParaRPr lang="en-US"/>
            </a:p>
          </p:txBody>
        </p:sp>
        <p:sp>
          <p:nvSpPr>
            <p:cNvPr id="5" name="TextBox 5"/>
            <p:cNvSpPr txBox="1"/>
            <p:nvPr/>
          </p:nvSpPr>
          <p:spPr>
            <a:xfrm>
              <a:off x="0" y="-66675"/>
              <a:ext cx="5219329" cy="698131"/>
            </a:xfrm>
            <a:prstGeom prst="rect">
              <a:avLst/>
            </a:prstGeom>
          </p:spPr>
          <p:txBody>
            <a:bodyPr lIns="50800" tIns="50800" rIns="50800" bIns="50800" rtlCol="0" anchor="ctr"/>
            <a:lstStyle/>
            <a:p>
              <a:pPr algn="ctr">
                <a:lnSpc>
                  <a:spcPts val="4200"/>
                </a:lnSpc>
              </a:pPr>
              <a:endParaRPr/>
            </a:p>
          </p:txBody>
        </p:sp>
      </p:grpSp>
      <p:sp>
        <p:nvSpPr>
          <p:cNvPr id="6" name="Freeform 6"/>
          <p:cNvSpPr/>
          <p:nvPr/>
        </p:nvSpPr>
        <p:spPr>
          <a:xfrm>
            <a:off x="5553235" y="1708054"/>
            <a:ext cx="7181529" cy="7328091"/>
          </a:xfrm>
          <a:custGeom>
            <a:avLst/>
            <a:gdLst/>
            <a:ahLst/>
            <a:cxnLst/>
            <a:rect l="l" t="t" r="r" b="b"/>
            <a:pathLst>
              <a:path w="7181529" h="7328091">
                <a:moveTo>
                  <a:pt x="0" y="0"/>
                </a:moveTo>
                <a:lnTo>
                  <a:pt x="7181530" y="0"/>
                </a:lnTo>
                <a:lnTo>
                  <a:pt x="7181530" y="7328092"/>
                </a:lnTo>
                <a:lnTo>
                  <a:pt x="0" y="7328092"/>
                </a:lnTo>
                <a:lnTo>
                  <a:pt x="0" y="0"/>
                </a:lnTo>
                <a:close/>
              </a:path>
            </a:pathLst>
          </a:custGeom>
          <a:blipFill>
            <a:blip r:embed="rId4"/>
            <a:stretch>
              <a:fillRect/>
            </a:stretch>
          </a:blipFill>
        </p:spPr>
        <p:txBody>
          <a:bodyPr/>
          <a:lstStyle/>
          <a:p>
            <a:endParaRPr lang="en-US"/>
          </a:p>
        </p:txBody>
      </p:sp>
      <p:sp>
        <p:nvSpPr>
          <p:cNvPr id="7" name="AutoShape 7"/>
          <p:cNvSpPr/>
          <p:nvPr/>
        </p:nvSpPr>
        <p:spPr>
          <a:xfrm>
            <a:off x="6749659" y="2960390"/>
            <a:ext cx="1672573" cy="19050"/>
          </a:xfrm>
          <a:prstGeom prst="line">
            <a:avLst/>
          </a:prstGeom>
          <a:ln w="28575" cap="flat">
            <a:solidFill>
              <a:srgbClr val="FFFFFF"/>
            </a:solidFill>
            <a:prstDash val="solid"/>
            <a:headEnd type="none" w="sm" len="sm"/>
            <a:tailEnd type="none" w="sm" len="sm"/>
          </a:ln>
        </p:spPr>
        <p:txBody>
          <a:bodyPr/>
          <a:lstStyle/>
          <a:p>
            <a:endParaRPr lang="en-US"/>
          </a:p>
        </p:txBody>
      </p:sp>
      <p:sp>
        <p:nvSpPr>
          <p:cNvPr id="8" name="AutoShape 8"/>
          <p:cNvSpPr/>
          <p:nvPr/>
        </p:nvSpPr>
        <p:spPr>
          <a:xfrm>
            <a:off x="9865877" y="2950866"/>
            <a:ext cx="1672573" cy="19050"/>
          </a:xfrm>
          <a:prstGeom prst="line">
            <a:avLst/>
          </a:prstGeom>
          <a:ln w="28575" cap="flat">
            <a:solidFill>
              <a:srgbClr val="FFFFFF"/>
            </a:solidFill>
            <a:prstDash val="solid"/>
            <a:headEnd type="none" w="sm" len="sm"/>
            <a:tailEnd type="none" w="sm" len="sm"/>
          </a:ln>
        </p:spPr>
        <p:txBody>
          <a:bodyPr/>
          <a:lstStyle/>
          <a:p>
            <a:endParaRPr lang="en-US"/>
          </a:p>
        </p:txBody>
      </p:sp>
      <p:sp>
        <p:nvSpPr>
          <p:cNvPr id="10" name="TextBox 10"/>
          <p:cNvSpPr txBox="1"/>
          <p:nvPr/>
        </p:nvSpPr>
        <p:spPr>
          <a:xfrm>
            <a:off x="5994975" y="3756336"/>
            <a:ext cx="6298051" cy="1670329"/>
          </a:xfrm>
          <a:prstGeom prst="rect">
            <a:avLst/>
          </a:prstGeom>
        </p:spPr>
        <p:txBody>
          <a:bodyPr lIns="0" tIns="0" rIns="0" bIns="0" rtlCol="0" anchor="t">
            <a:spAutoFit/>
          </a:bodyPr>
          <a:lstStyle/>
          <a:p>
            <a:pPr algn="ctr">
              <a:lnSpc>
                <a:spcPts val="4336"/>
              </a:lnSpc>
            </a:pPr>
            <a:r>
              <a:rPr lang="en-US" sz="3200" dirty="0">
                <a:solidFill>
                  <a:srgbClr val="FEFEFE"/>
                </a:solidFill>
                <a:latin typeface="League Spartan"/>
                <a:ea typeface="League Spartan"/>
                <a:cs typeface="League Spartan"/>
                <a:sym typeface="League Spartan"/>
              </a:rPr>
              <a:t>DO UMPIRE EJECTIONS IN THE MLB AFFECT WIN PERCENTAGES?</a:t>
            </a:r>
          </a:p>
        </p:txBody>
      </p:sp>
      <p:sp>
        <p:nvSpPr>
          <p:cNvPr id="11" name="TextBox 11"/>
          <p:cNvSpPr txBox="1"/>
          <p:nvPr/>
        </p:nvSpPr>
        <p:spPr>
          <a:xfrm>
            <a:off x="5994975" y="5597527"/>
            <a:ext cx="6298051" cy="1211581"/>
          </a:xfrm>
          <a:prstGeom prst="rect">
            <a:avLst/>
          </a:prstGeom>
        </p:spPr>
        <p:txBody>
          <a:bodyPr lIns="0" tIns="0" rIns="0" bIns="0" rtlCol="0" anchor="t">
            <a:spAutoFit/>
          </a:bodyPr>
          <a:lstStyle/>
          <a:p>
            <a:pPr algn="ctr">
              <a:lnSpc>
                <a:spcPts val="4619"/>
              </a:lnSpc>
            </a:pPr>
            <a:r>
              <a:rPr lang="en-US" sz="3299">
                <a:solidFill>
                  <a:srgbClr val="FFFFFF"/>
                </a:solidFill>
                <a:latin typeface="Adobe Caslon Pro"/>
                <a:ea typeface="Adobe Caslon Pro"/>
                <a:cs typeface="Adobe Caslon Pro"/>
                <a:sym typeface="Adobe Caslon Pro"/>
              </a:rPr>
              <a:t>Bryan Ayala-Rivera</a:t>
            </a:r>
          </a:p>
          <a:p>
            <a:pPr algn="ctr">
              <a:lnSpc>
                <a:spcPts val="4619"/>
              </a:lnSpc>
            </a:pPr>
            <a:r>
              <a:rPr lang="en-US" sz="3299">
                <a:solidFill>
                  <a:srgbClr val="FFFFFF"/>
                </a:solidFill>
                <a:latin typeface="Adobe Caslon Pro"/>
                <a:ea typeface="Adobe Caslon Pro"/>
                <a:cs typeface="Adobe Caslon Pro"/>
                <a:sym typeface="Adobe Caslon Pro"/>
              </a:rPr>
              <a:t>11/25/2025</a:t>
            </a:r>
          </a:p>
        </p:txBody>
      </p:sp>
      <p:pic>
        <p:nvPicPr>
          <p:cNvPr id="1026" name="Picture 2" descr="Spinning Baseball Stickers - Find &amp; Share on GIPHY">
            <a:extLst>
              <a:ext uri="{FF2B5EF4-FFF2-40B4-BE49-F238E27FC236}">
                <a16:creationId xmlns:a16="http://schemas.microsoft.com/office/drawing/2014/main" id="{9B6F85C6-4A44-27AC-21A1-35742FE2D75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543920" y="2368665"/>
            <a:ext cx="1074736" cy="107473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545929" y="349169"/>
            <a:ext cx="17196141" cy="9134333"/>
            <a:chOff x="0" y="0"/>
            <a:chExt cx="4529025" cy="2405750"/>
          </a:xfrm>
        </p:grpSpPr>
        <p:sp>
          <p:nvSpPr>
            <p:cNvPr id="4" name="Freeform 4"/>
            <p:cNvSpPr/>
            <p:nvPr/>
          </p:nvSpPr>
          <p:spPr>
            <a:xfrm>
              <a:off x="0" y="0"/>
              <a:ext cx="4529025" cy="2405750"/>
            </a:xfrm>
            <a:custGeom>
              <a:avLst/>
              <a:gdLst/>
              <a:ahLst/>
              <a:cxnLst/>
              <a:rect l="l" t="t" r="r" b="b"/>
              <a:pathLst>
                <a:path w="4529025" h="2405750">
                  <a:moveTo>
                    <a:pt x="0" y="0"/>
                  </a:moveTo>
                  <a:lnTo>
                    <a:pt x="4529025" y="0"/>
                  </a:lnTo>
                  <a:lnTo>
                    <a:pt x="4529025" y="2405750"/>
                  </a:lnTo>
                  <a:lnTo>
                    <a:pt x="0" y="2405750"/>
                  </a:lnTo>
                  <a:close/>
                </a:path>
              </a:pathLst>
            </a:custGeom>
            <a:solidFill>
              <a:srgbClr val="01529B"/>
            </a:solidFill>
            <a:ln w="161925" cap="sq">
              <a:solidFill>
                <a:srgbClr val="FEFEFE"/>
              </a:solidFill>
              <a:prstDash val="solid"/>
              <a:miter/>
            </a:ln>
          </p:spPr>
          <p:txBody>
            <a:bodyPr/>
            <a:lstStyle/>
            <a:p>
              <a:endParaRPr lang="en-US"/>
            </a:p>
          </p:txBody>
        </p:sp>
        <p:sp>
          <p:nvSpPr>
            <p:cNvPr id="5" name="TextBox 5"/>
            <p:cNvSpPr txBox="1"/>
            <p:nvPr/>
          </p:nvSpPr>
          <p:spPr>
            <a:xfrm>
              <a:off x="0" y="-66675"/>
              <a:ext cx="4529025" cy="2472425"/>
            </a:xfrm>
            <a:prstGeom prst="rect">
              <a:avLst/>
            </a:prstGeom>
          </p:spPr>
          <p:txBody>
            <a:bodyPr lIns="50800" tIns="50800" rIns="50800" bIns="50800" rtlCol="0" anchor="ctr"/>
            <a:lstStyle/>
            <a:p>
              <a:pPr algn="l">
                <a:lnSpc>
                  <a:spcPts val="4200"/>
                </a:lnSpc>
              </a:pPr>
              <a:endParaRPr lang="en-US" sz="3000" dirty="0">
                <a:solidFill>
                  <a:srgbClr val="FFFFFF"/>
                </a:solidFill>
                <a:latin typeface="Archivo Black"/>
                <a:ea typeface="Archivo Black"/>
                <a:cs typeface="Archivo Black"/>
                <a:sym typeface="Archivo Black"/>
              </a:endParaRPr>
            </a:p>
            <a:p>
              <a:pPr algn="l">
                <a:lnSpc>
                  <a:spcPts val="4200"/>
                </a:lnSpc>
              </a:pPr>
              <a:endParaRPr lang="en-US" sz="3000" dirty="0">
                <a:solidFill>
                  <a:srgbClr val="FFFFFF"/>
                </a:solidFill>
                <a:latin typeface="Archivo Black"/>
                <a:ea typeface="Archivo Black"/>
                <a:cs typeface="Archivo Black"/>
                <a:sym typeface="Archivo Black"/>
              </a:endParaRPr>
            </a:p>
            <a:p>
              <a:pPr algn="l">
                <a:lnSpc>
                  <a:spcPts val="4200"/>
                </a:lnSpc>
              </a:pPr>
              <a:endParaRPr lang="en-US" sz="3000" dirty="0">
                <a:solidFill>
                  <a:srgbClr val="FFFFFF"/>
                </a:solidFill>
                <a:latin typeface="Archivo Black"/>
                <a:ea typeface="Archivo Black"/>
                <a:cs typeface="Archivo Black"/>
                <a:sym typeface="Archivo Black"/>
              </a:endParaRPr>
            </a:p>
          </p:txBody>
        </p:sp>
      </p:grpSp>
      <p:sp>
        <p:nvSpPr>
          <p:cNvPr id="7" name="TextBox 7"/>
          <p:cNvSpPr txBox="1"/>
          <p:nvPr/>
        </p:nvSpPr>
        <p:spPr>
          <a:xfrm>
            <a:off x="6554380" y="1123950"/>
            <a:ext cx="5179241" cy="604985"/>
          </a:xfrm>
          <a:prstGeom prst="rect">
            <a:avLst/>
          </a:prstGeom>
        </p:spPr>
        <p:txBody>
          <a:bodyPr lIns="0" tIns="0" rIns="0" bIns="0" rtlCol="0" anchor="t">
            <a:spAutoFit/>
          </a:bodyPr>
          <a:lstStyle/>
          <a:p>
            <a:pPr algn="ctr">
              <a:lnSpc>
                <a:spcPts val="4515"/>
              </a:lnSpc>
            </a:pPr>
            <a:r>
              <a:rPr lang="en-US" sz="4607">
                <a:solidFill>
                  <a:srgbClr val="FEFEFE"/>
                </a:solidFill>
                <a:latin typeface="League Spartan"/>
                <a:ea typeface="League Spartan"/>
                <a:cs typeface="League Spartan"/>
                <a:sym typeface="League Spartan"/>
              </a:rPr>
              <a:t>INTRODUCTION</a:t>
            </a:r>
          </a:p>
        </p:txBody>
      </p:sp>
      <p:sp>
        <p:nvSpPr>
          <p:cNvPr id="8" name="TextBox 7">
            <a:extLst>
              <a:ext uri="{FF2B5EF4-FFF2-40B4-BE49-F238E27FC236}">
                <a16:creationId xmlns:a16="http://schemas.microsoft.com/office/drawing/2014/main" id="{3F777364-D2E4-9DC3-7F16-A479E5027617}"/>
              </a:ext>
            </a:extLst>
          </p:cNvPr>
          <p:cNvSpPr txBox="1"/>
          <p:nvPr/>
        </p:nvSpPr>
        <p:spPr>
          <a:xfrm>
            <a:off x="1219200" y="1921670"/>
            <a:ext cx="16040100" cy="5989332"/>
          </a:xfrm>
          <a:prstGeom prst="rect">
            <a:avLst/>
          </a:prstGeom>
          <a:noFill/>
        </p:spPr>
        <p:txBody>
          <a:bodyPr wrap="square" rtlCol="0">
            <a:spAutoFit/>
          </a:bodyPr>
          <a:lstStyle/>
          <a:p>
            <a:pPr marL="781050" lvl="1" indent="-457200">
              <a:lnSpc>
                <a:spcPts val="4200"/>
              </a:lnSpc>
              <a:buFont typeface="Arial" panose="020B0604020202020204" pitchFamily="34" charset="0"/>
              <a:buChar char="•"/>
            </a:pPr>
            <a:r>
              <a:rPr lang="en-US" sz="3000" dirty="0">
                <a:solidFill>
                  <a:srgbClr val="FFFFFF"/>
                </a:solidFill>
                <a:latin typeface="Archivo Black"/>
                <a:ea typeface="Archivo Black"/>
                <a:cs typeface="Archivo Black"/>
                <a:sym typeface="Archivo Black"/>
              </a:rPr>
              <a:t>What is an MLB Umpire?</a:t>
            </a:r>
          </a:p>
          <a:p>
            <a:pPr marL="1238250" lvl="2" indent="-457200">
              <a:lnSpc>
                <a:spcPts val="4200"/>
              </a:lnSpc>
              <a:buFont typeface="Arial" panose="020B0604020202020204" pitchFamily="34" charset="0"/>
              <a:buChar char="•"/>
            </a:pPr>
            <a:r>
              <a:rPr lang="en-US" sz="3000" dirty="0">
                <a:solidFill>
                  <a:srgbClr val="FFFFFF"/>
                </a:solidFill>
                <a:latin typeface="Archivo Black"/>
                <a:ea typeface="Archivo Black"/>
                <a:cs typeface="Archivo Black"/>
                <a:sym typeface="Archivo Black"/>
              </a:rPr>
              <a:t>The official who enforces rules during a baseball game</a:t>
            </a:r>
          </a:p>
          <a:p>
            <a:pPr marL="781050" lvl="1" indent="-457200">
              <a:lnSpc>
                <a:spcPts val="4200"/>
              </a:lnSpc>
              <a:buFont typeface="Arial" panose="020B0604020202020204" pitchFamily="34" charset="0"/>
              <a:buChar char="•"/>
            </a:pPr>
            <a:r>
              <a:rPr lang="en-US" sz="3000" dirty="0">
                <a:solidFill>
                  <a:srgbClr val="FFFFFF"/>
                </a:solidFill>
                <a:latin typeface="Archivo Black"/>
                <a:ea typeface="Archivo Black"/>
                <a:cs typeface="Archivo Black"/>
                <a:sym typeface="Archivo Black"/>
              </a:rPr>
              <a:t>What is an ejection?</a:t>
            </a:r>
          </a:p>
          <a:p>
            <a:pPr marL="1238250" lvl="2" indent="-457200">
              <a:lnSpc>
                <a:spcPts val="4200"/>
              </a:lnSpc>
              <a:buFont typeface="Arial" panose="020B0604020202020204" pitchFamily="34" charset="0"/>
              <a:buChar char="•"/>
            </a:pPr>
            <a:r>
              <a:rPr lang="en-US" sz="3000" dirty="0">
                <a:solidFill>
                  <a:srgbClr val="FFFFFF"/>
                </a:solidFill>
                <a:latin typeface="Archivo Black"/>
                <a:ea typeface="Archivo Black"/>
                <a:cs typeface="Archivo Black"/>
                <a:sym typeface="Archivo Black"/>
              </a:rPr>
              <a:t>being "ejected" means a player, coach, or manager is forced to leave the game for unsportsmanlike conduct, arguing calls, or breaking rules. Under the discretion of the umpire.</a:t>
            </a:r>
          </a:p>
          <a:p>
            <a:pPr marL="1238250" lvl="2" indent="-457200">
              <a:lnSpc>
                <a:spcPts val="4200"/>
              </a:lnSpc>
              <a:buFont typeface="Arial" panose="020B0604020202020204" pitchFamily="34" charset="0"/>
              <a:buChar char="•"/>
            </a:pPr>
            <a:r>
              <a:rPr lang="en-US" sz="3000" dirty="0">
                <a:solidFill>
                  <a:srgbClr val="FFFFFF"/>
                </a:solidFill>
                <a:latin typeface="Archivo Black"/>
                <a:ea typeface="Archivo Black"/>
                <a:cs typeface="Archivo Black"/>
                <a:sym typeface="Archivo Black"/>
              </a:rPr>
              <a:t>The </a:t>
            </a:r>
            <a:r>
              <a:rPr lang="en-US" sz="3000" dirty="0" err="1">
                <a:solidFill>
                  <a:srgbClr val="FFFFFF"/>
                </a:solidFill>
                <a:latin typeface="Archivo Black"/>
                <a:ea typeface="Archivo Black"/>
                <a:cs typeface="Archivo Black"/>
                <a:sym typeface="Archivo Black"/>
              </a:rPr>
              <a:t>ejectee</a:t>
            </a:r>
            <a:r>
              <a:rPr lang="en-US" sz="3000" dirty="0">
                <a:solidFill>
                  <a:srgbClr val="FFFFFF"/>
                </a:solidFill>
                <a:latin typeface="Archivo Black"/>
                <a:ea typeface="Archivo Black"/>
                <a:cs typeface="Archivo Black"/>
                <a:sym typeface="Archivo Black"/>
              </a:rPr>
              <a:t> is replaced by a player/coach/manager for the rest of the game</a:t>
            </a:r>
          </a:p>
          <a:p>
            <a:pPr marL="781050" lvl="1" indent="-457200">
              <a:lnSpc>
                <a:spcPts val="4200"/>
              </a:lnSpc>
              <a:buFont typeface="Arial" panose="020B0604020202020204" pitchFamily="34" charset="0"/>
              <a:buChar char="•"/>
            </a:pPr>
            <a:r>
              <a:rPr lang="en-US" sz="3000" dirty="0">
                <a:solidFill>
                  <a:srgbClr val="FFFFFF"/>
                </a:solidFill>
                <a:latin typeface="Archivo Black"/>
                <a:ea typeface="Archivo Black"/>
                <a:cs typeface="Archivo Black"/>
                <a:sym typeface="Archivo Black"/>
              </a:rPr>
              <a:t>Question: Do Umpire Ejections Affect Win Percentages for a Major League Baseball Team?</a:t>
            </a:r>
          </a:p>
          <a:p>
            <a:pPr marL="1238250" lvl="2" indent="-457200">
              <a:lnSpc>
                <a:spcPts val="4200"/>
              </a:lnSpc>
              <a:buFont typeface="Arial" panose="020B0604020202020204" pitchFamily="34" charset="0"/>
              <a:buChar char="•"/>
            </a:pPr>
            <a:endParaRPr lang="en-US" sz="3000" dirty="0">
              <a:solidFill>
                <a:srgbClr val="FFFFFF"/>
              </a:solidFill>
              <a:latin typeface="Archivo Black"/>
              <a:ea typeface="Archivo Black"/>
              <a:cs typeface="Archivo Black"/>
              <a:sym typeface="Archivo Black"/>
            </a:endParaRPr>
          </a:p>
        </p:txBody>
      </p:sp>
      <p:pic>
        <p:nvPicPr>
          <p:cNvPr id="2050" name="Picture 2" descr="Of “Three Blind Mice” and Joe West and a press-box ejection – Never a Bad  Game">
            <a:extLst>
              <a:ext uri="{FF2B5EF4-FFF2-40B4-BE49-F238E27FC236}">
                <a16:creationId xmlns:a16="http://schemas.microsoft.com/office/drawing/2014/main" id="{CD0EF121-C9FA-C7E9-1C1C-1597C67C5AB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032" t="-1" r="15625" b="1688"/>
          <a:stretch>
            <a:fillRect/>
          </a:stretch>
        </p:blipFill>
        <p:spPr bwMode="auto">
          <a:xfrm>
            <a:off x="13335000" y="6912704"/>
            <a:ext cx="3581400" cy="250291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5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545930" y="455689"/>
            <a:ext cx="17196141" cy="9134333"/>
            <a:chOff x="0" y="0"/>
            <a:chExt cx="4529025" cy="2405750"/>
          </a:xfrm>
        </p:grpSpPr>
        <p:sp>
          <p:nvSpPr>
            <p:cNvPr id="4" name="Freeform 4"/>
            <p:cNvSpPr/>
            <p:nvPr/>
          </p:nvSpPr>
          <p:spPr>
            <a:xfrm>
              <a:off x="0" y="0"/>
              <a:ext cx="4529025" cy="2405750"/>
            </a:xfrm>
            <a:custGeom>
              <a:avLst/>
              <a:gdLst/>
              <a:ahLst/>
              <a:cxnLst/>
              <a:rect l="l" t="t" r="r" b="b"/>
              <a:pathLst>
                <a:path w="4529025" h="2405750">
                  <a:moveTo>
                    <a:pt x="0" y="0"/>
                  </a:moveTo>
                  <a:lnTo>
                    <a:pt x="4529025" y="0"/>
                  </a:lnTo>
                  <a:lnTo>
                    <a:pt x="4529025" y="2405750"/>
                  </a:lnTo>
                  <a:lnTo>
                    <a:pt x="0" y="2405750"/>
                  </a:lnTo>
                  <a:close/>
                </a:path>
              </a:pathLst>
            </a:custGeom>
            <a:solidFill>
              <a:srgbClr val="01529B"/>
            </a:solidFill>
            <a:ln w="161925" cap="sq">
              <a:solidFill>
                <a:srgbClr val="FEFEFE"/>
              </a:solidFill>
              <a:prstDash val="solid"/>
              <a:miter/>
            </a:ln>
          </p:spPr>
          <p:txBody>
            <a:bodyPr/>
            <a:lstStyle/>
            <a:p>
              <a:endParaRPr lang="en-US"/>
            </a:p>
          </p:txBody>
        </p:sp>
        <p:sp>
          <p:nvSpPr>
            <p:cNvPr id="5" name="TextBox 5"/>
            <p:cNvSpPr txBox="1"/>
            <p:nvPr/>
          </p:nvSpPr>
          <p:spPr>
            <a:xfrm>
              <a:off x="0" y="-66675"/>
              <a:ext cx="4529025" cy="2472425"/>
            </a:xfrm>
            <a:prstGeom prst="rect">
              <a:avLst/>
            </a:prstGeom>
          </p:spPr>
          <p:txBody>
            <a:bodyPr lIns="50800" tIns="50800" rIns="50800" bIns="50800" rtlCol="0" anchor="ctr"/>
            <a:lstStyle/>
            <a:p>
              <a:pPr algn="ctr">
                <a:lnSpc>
                  <a:spcPts val="4200"/>
                </a:lnSpc>
              </a:pPr>
              <a:endParaRPr/>
            </a:p>
          </p:txBody>
        </p:sp>
      </p:grpSp>
      <p:sp>
        <p:nvSpPr>
          <p:cNvPr id="6" name="TextBox 6"/>
          <p:cNvSpPr txBox="1"/>
          <p:nvPr/>
        </p:nvSpPr>
        <p:spPr>
          <a:xfrm>
            <a:off x="6554380" y="1123950"/>
            <a:ext cx="5179241" cy="604985"/>
          </a:xfrm>
          <a:prstGeom prst="rect">
            <a:avLst/>
          </a:prstGeom>
        </p:spPr>
        <p:txBody>
          <a:bodyPr lIns="0" tIns="0" rIns="0" bIns="0" rtlCol="0" anchor="t">
            <a:spAutoFit/>
          </a:bodyPr>
          <a:lstStyle/>
          <a:p>
            <a:pPr algn="ctr">
              <a:lnSpc>
                <a:spcPts val="4515"/>
              </a:lnSpc>
            </a:pPr>
            <a:r>
              <a:rPr lang="en-US" sz="4607">
                <a:solidFill>
                  <a:srgbClr val="FEFEFE"/>
                </a:solidFill>
                <a:latin typeface="League Spartan"/>
                <a:ea typeface="League Spartan"/>
                <a:cs typeface="League Spartan"/>
                <a:sym typeface="League Spartan"/>
              </a:rPr>
              <a:t>DATA SOURCES</a:t>
            </a:r>
          </a:p>
        </p:txBody>
      </p:sp>
      <p:sp>
        <p:nvSpPr>
          <p:cNvPr id="7" name="TextBox 6">
            <a:extLst>
              <a:ext uri="{FF2B5EF4-FFF2-40B4-BE49-F238E27FC236}">
                <a16:creationId xmlns:a16="http://schemas.microsoft.com/office/drawing/2014/main" id="{4F26BB00-F3C8-ACDD-572A-83978A4B9CC6}"/>
              </a:ext>
            </a:extLst>
          </p:cNvPr>
          <p:cNvSpPr txBox="1"/>
          <p:nvPr/>
        </p:nvSpPr>
        <p:spPr>
          <a:xfrm>
            <a:off x="1219200" y="1921670"/>
            <a:ext cx="16040100" cy="6527941"/>
          </a:xfrm>
          <a:prstGeom prst="rect">
            <a:avLst/>
          </a:prstGeom>
          <a:noFill/>
        </p:spPr>
        <p:txBody>
          <a:bodyPr wrap="square" rtlCol="0">
            <a:spAutoFit/>
          </a:bodyPr>
          <a:lstStyle/>
          <a:p>
            <a:pPr marL="838200" lvl="1" indent="-514350">
              <a:lnSpc>
                <a:spcPts val="4200"/>
              </a:lnSpc>
              <a:buFont typeface="+mj-lt"/>
              <a:buAutoNum type="arabicPeriod"/>
            </a:pPr>
            <a:r>
              <a:rPr lang="en-US" sz="3000" dirty="0" err="1">
                <a:solidFill>
                  <a:srgbClr val="FFFFFF"/>
                </a:solidFill>
                <a:latin typeface="Archivo Black"/>
                <a:ea typeface="Archivo Black"/>
                <a:cs typeface="Archivo Black"/>
                <a:sym typeface="Archivo Black"/>
              </a:rPr>
              <a:t>Retrosheets</a:t>
            </a:r>
            <a:r>
              <a:rPr lang="en-US" sz="3000" dirty="0">
                <a:solidFill>
                  <a:srgbClr val="FFFFFF"/>
                </a:solidFill>
                <a:latin typeface="Archivo Black"/>
                <a:ea typeface="Archivo Black"/>
                <a:cs typeface="Archivo Black"/>
                <a:sym typeface="Archivo Black"/>
              </a:rPr>
              <a:t> - </a:t>
            </a:r>
            <a:r>
              <a:rPr lang="en-US" sz="3000" dirty="0">
                <a:solidFill>
                  <a:srgbClr val="FFFFFF"/>
                </a:solidFill>
                <a:latin typeface="Archivo Black"/>
                <a:ea typeface="Archivo Black"/>
                <a:cs typeface="Archivo Black"/>
                <a:sym typeface="Archivo Black"/>
                <a:hlinkClick r:id="rId4"/>
              </a:rPr>
              <a:t>https://www.retrosheet.org/eject.htm</a:t>
            </a:r>
            <a:r>
              <a:rPr lang="en-US" sz="3000" dirty="0">
                <a:solidFill>
                  <a:srgbClr val="FFFFFF"/>
                </a:solidFill>
                <a:latin typeface="Archivo Black"/>
                <a:ea typeface="Archivo Black"/>
                <a:cs typeface="Archivo Black"/>
                <a:sym typeface="Archivo Black"/>
              </a:rPr>
              <a:t> </a:t>
            </a:r>
          </a:p>
          <a:p>
            <a:pPr marL="1295400" lvl="2" indent="-514350">
              <a:lnSpc>
                <a:spcPts val="4200"/>
              </a:lnSpc>
              <a:buFont typeface="Arial" panose="020B0604020202020204" pitchFamily="34" charset="0"/>
              <a:buChar char="•"/>
            </a:pPr>
            <a:r>
              <a:rPr lang="en-US" sz="3000" dirty="0">
                <a:solidFill>
                  <a:srgbClr val="FFFFFF"/>
                </a:solidFill>
                <a:latin typeface="Archivo Black"/>
                <a:ea typeface="Archivo Black"/>
                <a:cs typeface="Archivo Black"/>
                <a:sym typeface="Archivo Black"/>
              </a:rPr>
              <a:t>Csv file </a:t>
            </a:r>
          </a:p>
          <a:p>
            <a:pPr marL="1295400" lvl="2" indent="-514350">
              <a:lnSpc>
                <a:spcPts val="4200"/>
              </a:lnSpc>
              <a:buFont typeface="Arial" panose="020B0604020202020204" pitchFamily="34" charset="0"/>
              <a:buChar char="•"/>
            </a:pPr>
            <a:r>
              <a:rPr lang="en-US" sz="3000" dirty="0">
                <a:solidFill>
                  <a:srgbClr val="FFFFFF"/>
                </a:solidFill>
                <a:latin typeface="Archivo Black"/>
                <a:ea typeface="Archivo Black"/>
                <a:cs typeface="Archivo Black"/>
                <a:sym typeface="Archivo Black"/>
              </a:rPr>
              <a:t>ejections from 1889-2024</a:t>
            </a:r>
          </a:p>
          <a:p>
            <a:pPr marL="1295400" lvl="2" indent="-514350">
              <a:lnSpc>
                <a:spcPts val="4200"/>
              </a:lnSpc>
              <a:buFont typeface="Arial" panose="020B0604020202020204" pitchFamily="34" charset="0"/>
              <a:buChar char="•"/>
            </a:pPr>
            <a:r>
              <a:rPr lang="en-US" sz="3000" dirty="0">
                <a:solidFill>
                  <a:srgbClr val="FFFFFF"/>
                </a:solidFill>
                <a:latin typeface="Archivo Black"/>
                <a:ea typeface="Archivo Black"/>
                <a:cs typeface="Archivo Black"/>
                <a:sym typeface="Archivo Black"/>
              </a:rPr>
              <a:t>19,000+ data points – umpire, person ejected, reason for ejection, </a:t>
            </a:r>
            <a:r>
              <a:rPr lang="en-US" sz="3000" dirty="0" err="1">
                <a:solidFill>
                  <a:srgbClr val="FFFFFF"/>
                </a:solidFill>
                <a:latin typeface="Archivo Black"/>
                <a:ea typeface="Archivo Black"/>
                <a:cs typeface="Archivo Black"/>
                <a:sym typeface="Archivo Black"/>
              </a:rPr>
              <a:t>etc</a:t>
            </a:r>
            <a:endParaRPr lang="en-US" sz="3000" dirty="0">
              <a:solidFill>
                <a:srgbClr val="FFFFFF"/>
              </a:solidFill>
              <a:latin typeface="Archivo Black"/>
              <a:ea typeface="Archivo Black"/>
              <a:cs typeface="Archivo Black"/>
              <a:sym typeface="Archivo Black"/>
            </a:endParaRPr>
          </a:p>
          <a:p>
            <a:pPr marL="838200" lvl="1" indent="-514350">
              <a:lnSpc>
                <a:spcPts val="4200"/>
              </a:lnSpc>
              <a:buFont typeface="+mj-lt"/>
              <a:buAutoNum type="arabicPeriod"/>
            </a:pPr>
            <a:r>
              <a:rPr lang="en-US" sz="3000" dirty="0" err="1">
                <a:solidFill>
                  <a:srgbClr val="FFFFFF"/>
                </a:solidFill>
                <a:latin typeface="Archivo Black"/>
                <a:ea typeface="Archivo Black"/>
                <a:cs typeface="Archivo Black"/>
                <a:sym typeface="Archivo Black"/>
              </a:rPr>
              <a:t>UmpScorecard</a:t>
            </a:r>
            <a:r>
              <a:rPr lang="en-US" sz="3000" dirty="0">
                <a:solidFill>
                  <a:srgbClr val="FFFFFF"/>
                </a:solidFill>
                <a:latin typeface="Archivo Black"/>
                <a:ea typeface="Archivo Black"/>
                <a:cs typeface="Archivo Black"/>
                <a:sym typeface="Archivo Black"/>
              </a:rPr>
              <a:t> – </a:t>
            </a:r>
            <a:r>
              <a:rPr lang="en-US" sz="3000" dirty="0" err="1">
                <a:solidFill>
                  <a:srgbClr val="FFFFFF"/>
                </a:solidFill>
                <a:latin typeface="Archivo Black"/>
                <a:ea typeface="Archivo Black"/>
                <a:cs typeface="Archivo Black"/>
                <a:sym typeface="Archivo Black"/>
              </a:rPr>
              <a:t>url</a:t>
            </a:r>
            <a:r>
              <a:rPr lang="en-US" sz="3000" dirty="0">
                <a:solidFill>
                  <a:srgbClr val="FFFFFF"/>
                </a:solidFill>
                <a:latin typeface="Archivo Black"/>
                <a:ea typeface="Archivo Black"/>
                <a:cs typeface="Archivo Black"/>
                <a:sym typeface="Archivo Black"/>
              </a:rPr>
              <a:t> </a:t>
            </a:r>
            <a:r>
              <a:rPr lang="en-US" sz="3000" dirty="0">
                <a:solidFill>
                  <a:srgbClr val="FFFFFF"/>
                </a:solidFill>
                <a:latin typeface="Archivo Black"/>
                <a:ea typeface="Archivo Black"/>
                <a:cs typeface="Archivo Black"/>
                <a:sym typeface="Archivo Black"/>
                <a:hlinkClick r:id="rId5"/>
              </a:rPr>
              <a:t>here</a:t>
            </a:r>
            <a:endParaRPr lang="en-US" sz="3000" dirty="0">
              <a:solidFill>
                <a:srgbClr val="FFFFFF"/>
              </a:solidFill>
              <a:latin typeface="Archivo Black"/>
              <a:ea typeface="Archivo Black"/>
              <a:cs typeface="Archivo Black"/>
              <a:sym typeface="Archivo Black"/>
            </a:endParaRPr>
          </a:p>
          <a:p>
            <a:pPr marL="1295400" lvl="2" indent="-514350">
              <a:lnSpc>
                <a:spcPts val="4200"/>
              </a:lnSpc>
              <a:buFont typeface="Arial" panose="020B0604020202020204" pitchFamily="34" charset="0"/>
              <a:buChar char="•"/>
            </a:pPr>
            <a:r>
              <a:rPr lang="en-US" sz="3000" dirty="0">
                <a:solidFill>
                  <a:srgbClr val="FFFFFF"/>
                </a:solidFill>
                <a:latin typeface="Archivo Black"/>
                <a:ea typeface="Archivo Black"/>
                <a:cs typeface="Archivo Black"/>
                <a:sym typeface="Archivo Black"/>
              </a:rPr>
              <a:t>Csv file from Kaggle – used </a:t>
            </a:r>
            <a:r>
              <a:rPr lang="en-US" sz="3000" dirty="0" err="1">
                <a:solidFill>
                  <a:srgbClr val="FFFFFF"/>
                </a:solidFill>
                <a:latin typeface="Archivo Black"/>
                <a:ea typeface="Archivo Black"/>
                <a:cs typeface="Archivo Black"/>
                <a:sym typeface="Archivo Black"/>
              </a:rPr>
              <a:t>api</a:t>
            </a:r>
            <a:r>
              <a:rPr lang="en-US" sz="3000" dirty="0">
                <a:solidFill>
                  <a:srgbClr val="FFFFFF"/>
                </a:solidFill>
                <a:latin typeface="Archivo Black"/>
                <a:ea typeface="Archivo Black"/>
                <a:cs typeface="Archivo Black"/>
                <a:sym typeface="Archivo Black"/>
              </a:rPr>
              <a:t> to access</a:t>
            </a:r>
          </a:p>
          <a:p>
            <a:pPr marL="1295400" lvl="2" indent="-514350">
              <a:lnSpc>
                <a:spcPts val="4200"/>
              </a:lnSpc>
              <a:buFont typeface="Arial" panose="020B0604020202020204" pitchFamily="34" charset="0"/>
              <a:buChar char="•"/>
            </a:pPr>
            <a:r>
              <a:rPr lang="en-US" sz="3000" dirty="0">
                <a:solidFill>
                  <a:srgbClr val="FFFFFF"/>
                </a:solidFill>
                <a:latin typeface="Archivo Black"/>
                <a:ea typeface="Archivo Black"/>
                <a:cs typeface="Archivo Black"/>
                <a:sym typeface="Archivo Black"/>
              </a:rPr>
              <a:t>18,000+ data points</a:t>
            </a:r>
          </a:p>
          <a:p>
            <a:pPr marL="1295400" lvl="2" indent="-514350">
              <a:lnSpc>
                <a:spcPts val="4200"/>
              </a:lnSpc>
              <a:buFont typeface="Arial" panose="020B0604020202020204" pitchFamily="34" charset="0"/>
              <a:buChar char="•"/>
            </a:pPr>
            <a:r>
              <a:rPr lang="en-US" sz="3000" dirty="0">
                <a:solidFill>
                  <a:srgbClr val="FFFFFF"/>
                </a:solidFill>
                <a:latin typeface="Archivo Black"/>
                <a:ea typeface="Archivo Black"/>
                <a:cs typeface="Archivo Black"/>
                <a:sym typeface="Archivo Black"/>
              </a:rPr>
              <a:t>Data from 2015-2022</a:t>
            </a:r>
          </a:p>
          <a:p>
            <a:pPr marL="1295400" lvl="2" indent="-514350">
              <a:lnSpc>
                <a:spcPts val="4200"/>
              </a:lnSpc>
              <a:buFont typeface="Arial" panose="020B0604020202020204" pitchFamily="34" charset="0"/>
              <a:buChar char="•"/>
            </a:pPr>
            <a:r>
              <a:rPr lang="en-US" sz="3000" dirty="0">
                <a:solidFill>
                  <a:srgbClr val="FFFFFF"/>
                </a:solidFill>
                <a:latin typeface="Archivo Black"/>
                <a:ea typeface="Archivo Black"/>
                <a:cs typeface="Archivo Black"/>
                <a:sym typeface="Archivo Black"/>
              </a:rPr>
              <a:t>Data on umpire performance/accuracy</a:t>
            </a:r>
          </a:p>
          <a:p>
            <a:pPr marL="838200" lvl="1" indent="-514350">
              <a:lnSpc>
                <a:spcPts val="4200"/>
              </a:lnSpc>
              <a:buFont typeface="+mj-lt"/>
              <a:buAutoNum type="arabicPeriod"/>
            </a:pPr>
            <a:r>
              <a:rPr lang="en-US" sz="3000" dirty="0">
                <a:solidFill>
                  <a:srgbClr val="FFFFFF"/>
                </a:solidFill>
                <a:latin typeface="Archivo Black"/>
                <a:ea typeface="Archivo Black"/>
                <a:cs typeface="Archivo Black"/>
                <a:sym typeface="Archivo Black"/>
              </a:rPr>
              <a:t>Statsapi.mlb.com</a:t>
            </a:r>
          </a:p>
          <a:p>
            <a:pPr marL="1295400" lvl="2" indent="-514350">
              <a:lnSpc>
                <a:spcPts val="4200"/>
              </a:lnSpc>
              <a:buFont typeface="Arial" panose="020B0604020202020204" pitchFamily="34" charset="0"/>
              <a:buChar char="•"/>
            </a:pPr>
            <a:r>
              <a:rPr lang="en-US" sz="3000" dirty="0">
                <a:solidFill>
                  <a:srgbClr val="FFFFFF"/>
                </a:solidFill>
                <a:latin typeface="Archivo Black"/>
                <a:ea typeface="Archivo Black"/>
                <a:cs typeface="Archivo Black"/>
                <a:sym typeface="Archivo Black"/>
              </a:rPr>
              <a:t>Access to MLB data, schedule, weather, </a:t>
            </a:r>
            <a:r>
              <a:rPr lang="en-US" sz="3000" dirty="0" err="1">
                <a:solidFill>
                  <a:srgbClr val="FFFFFF"/>
                </a:solidFill>
                <a:latin typeface="Archivo Black"/>
                <a:ea typeface="Archivo Black"/>
                <a:cs typeface="Archivo Black"/>
                <a:sym typeface="Archivo Black"/>
              </a:rPr>
              <a:t>etc</a:t>
            </a:r>
            <a:endParaRPr lang="en-US" sz="3000" dirty="0">
              <a:solidFill>
                <a:srgbClr val="FFFFFF"/>
              </a:solidFill>
              <a:latin typeface="Archivo Black"/>
              <a:ea typeface="Archivo Black"/>
              <a:cs typeface="Archivo Black"/>
              <a:sym typeface="Archivo Black"/>
            </a:endParaRPr>
          </a:p>
          <a:p>
            <a:pPr marL="1295400" lvl="2" indent="-514350">
              <a:lnSpc>
                <a:spcPts val="4200"/>
              </a:lnSpc>
              <a:buFont typeface="Arial" panose="020B0604020202020204" pitchFamily="34" charset="0"/>
              <a:buChar char="•"/>
            </a:pPr>
            <a:endParaRPr lang="en-US" sz="3000" dirty="0">
              <a:solidFill>
                <a:srgbClr val="FFFFFF"/>
              </a:solidFill>
              <a:latin typeface="Archivo Black"/>
              <a:ea typeface="Archivo Black"/>
              <a:cs typeface="Archivo Black"/>
              <a:sym typeface="Archivo Black"/>
            </a:endParaRP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545930" y="455689"/>
            <a:ext cx="17196141" cy="9134333"/>
            <a:chOff x="0" y="0"/>
            <a:chExt cx="4529025" cy="2405750"/>
          </a:xfrm>
        </p:grpSpPr>
        <p:sp>
          <p:nvSpPr>
            <p:cNvPr id="4" name="Freeform 4"/>
            <p:cNvSpPr/>
            <p:nvPr/>
          </p:nvSpPr>
          <p:spPr>
            <a:xfrm>
              <a:off x="0" y="0"/>
              <a:ext cx="4529025" cy="2405750"/>
            </a:xfrm>
            <a:custGeom>
              <a:avLst/>
              <a:gdLst/>
              <a:ahLst/>
              <a:cxnLst/>
              <a:rect l="l" t="t" r="r" b="b"/>
              <a:pathLst>
                <a:path w="4529025" h="2405750">
                  <a:moveTo>
                    <a:pt x="0" y="0"/>
                  </a:moveTo>
                  <a:lnTo>
                    <a:pt x="4529025" y="0"/>
                  </a:lnTo>
                  <a:lnTo>
                    <a:pt x="4529025" y="2405750"/>
                  </a:lnTo>
                  <a:lnTo>
                    <a:pt x="0" y="2405750"/>
                  </a:lnTo>
                  <a:close/>
                </a:path>
              </a:pathLst>
            </a:custGeom>
            <a:solidFill>
              <a:srgbClr val="01529B"/>
            </a:solidFill>
            <a:ln w="161925" cap="sq">
              <a:solidFill>
                <a:srgbClr val="FEFEFE"/>
              </a:solidFill>
              <a:prstDash val="solid"/>
              <a:miter/>
            </a:ln>
          </p:spPr>
          <p:txBody>
            <a:bodyPr/>
            <a:lstStyle/>
            <a:p>
              <a:pPr marL="285750" indent="-285750">
                <a:buFont typeface="Arial" panose="020B0604020202020204" pitchFamily="34" charset="0"/>
                <a:buChar char="•"/>
              </a:pPr>
              <a:endParaRPr lang="en-US"/>
            </a:p>
          </p:txBody>
        </p:sp>
        <p:sp>
          <p:nvSpPr>
            <p:cNvPr id="5" name="TextBox 5"/>
            <p:cNvSpPr txBox="1"/>
            <p:nvPr/>
          </p:nvSpPr>
          <p:spPr>
            <a:xfrm>
              <a:off x="0" y="-66675"/>
              <a:ext cx="4529025" cy="2472425"/>
            </a:xfrm>
            <a:prstGeom prst="rect">
              <a:avLst/>
            </a:prstGeom>
          </p:spPr>
          <p:txBody>
            <a:bodyPr lIns="50800" tIns="50800" rIns="50800" bIns="50800" rtlCol="0" anchor="ctr"/>
            <a:lstStyle/>
            <a:p>
              <a:pPr marL="285750" indent="-285750" algn="ctr">
                <a:lnSpc>
                  <a:spcPts val="4200"/>
                </a:lnSpc>
                <a:buFont typeface="Arial" panose="020B0604020202020204" pitchFamily="34" charset="0"/>
                <a:buChar char="•"/>
              </a:pPr>
              <a:endParaRPr/>
            </a:p>
          </p:txBody>
        </p:sp>
      </p:grpSp>
      <p:sp>
        <p:nvSpPr>
          <p:cNvPr id="6" name="TextBox 6"/>
          <p:cNvSpPr txBox="1"/>
          <p:nvPr/>
        </p:nvSpPr>
        <p:spPr>
          <a:xfrm>
            <a:off x="4419600" y="1137281"/>
            <a:ext cx="11187690" cy="610039"/>
          </a:xfrm>
          <a:prstGeom prst="rect">
            <a:avLst/>
          </a:prstGeom>
        </p:spPr>
        <p:txBody>
          <a:bodyPr wrap="square" lIns="0" tIns="0" rIns="0" bIns="0" rtlCol="0" anchor="t">
            <a:spAutoFit/>
          </a:bodyPr>
          <a:lstStyle/>
          <a:p>
            <a:pPr algn="ctr">
              <a:lnSpc>
                <a:spcPts val="4515"/>
              </a:lnSpc>
            </a:pPr>
            <a:r>
              <a:rPr lang="en-US" sz="4607" dirty="0">
                <a:solidFill>
                  <a:srgbClr val="FEFEFE"/>
                </a:solidFill>
                <a:latin typeface="League Spartan"/>
                <a:ea typeface="League Spartan"/>
                <a:cs typeface="League Spartan"/>
                <a:sym typeface="League Spartan"/>
              </a:rPr>
              <a:t>SUMMARY – Process</a:t>
            </a:r>
          </a:p>
        </p:txBody>
      </p:sp>
      <p:pic>
        <p:nvPicPr>
          <p:cNvPr id="19" name="Picture 18" descr="A screenshot of a computer screen">
            <a:extLst>
              <a:ext uri="{FF2B5EF4-FFF2-40B4-BE49-F238E27FC236}">
                <a16:creationId xmlns:a16="http://schemas.microsoft.com/office/drawing/2014/main" id="{D073D7C6-5BB7-3F9D-9BFA-BE0675BBC9AD}"/>
              </a:ext>
            </a:extLst>
          </p:cNvPr>
          <p:cNvPicPr>
            <a:picLocks noChangeAspect="1"/>
          </p:cNvPicPr>
          <p:nvPr/>
        </p:nvPicPr>
        <p:blipFill>
          <a:blip r:embed="rId4">
            <a:extLst>
              <a:ext uri="{28A0092B-C50C-407E-A947-70E740481C1C}">
                <a14:useLocalDpi xmlns:a14="http://schemas.microsoft.com/office/drawing/2010/main" val="0"/>
              </a:ext>
            </a:extLst>
          </a:blip>
          <a:srcRect t="20371" b="6776"/>
          <a:stretch>
            <a:fillRect/>
          </a:stretch>
        </p:blipFill>
        <p:spPr>
          <a:xfrm>
            <a:off x="2057400" y="1958644"/>
            <a:ext cx="14803244" cy="7494522"/>
          </a:xfrm>
          <a:prstGeom prst="rect">
            <a:avLst/>
          </a:prstGeom>
        </p:spPr>
      </p:pic>
    </p:spTree>
  </p:cSld>
  <p:clrMapOvr>
    <a:masterClrMapping/>
  </p:clrMapOvr>
  <p:transition spd="slow">
    <p:cove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5AFD0-A36D-0B36-C8F1-FFEC1FD319D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BA22767-AA69-60C6-0F79-AF768EC0F9F6}"/>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grpSp>
        <p:nvGrpSpPr>
          <p:cNvPr id="3" name="Group 3">
            <a:extLst>
              <a:ext uri="{FF2B5EF4-FFF2-40B4-BE49-F238E27FC236}">
                <a16:creationId xmlns:a16="http://schemas.microsoft.com/office/drawing/2014/main" id="{EB62C3B4-3586-DAA7-71B0-6F835A076B8F}"/>
              </a:ext>
            </a:extLst>
          </p:cNvPr>
          <p:cNvGrpSpPr/>
          <p:nvPr/>
        </p:nvGrpSpPr>
        <p:grpSpPr>
          <a:xfrm>
            <a:off x="545930" y="455689"/>
            <a:ext cx="17196141" cy="9134333"/>
            <a:chOff x="0" y="0"/>
            <a:chExt cx="4529025" cy="2405750"/>
          </a:xfrm>
        </p:grpSpPr>
        <p:sp>
          <p:nvSpPr>
            <p:cNvPr id="4" name="Freeform 4">
              <a:extLst>
                <a:ext uri="{FF2B5EF4-FFF2-40B4-BE49-F238E27FC236}">
                  <a16:creationId xmlns:a16="http://schemas.microsoft.com/office/drawing/2014/main" id="{5DA35087-8DBD-13AB-F7BC-4A48119B7B7F}"/>
                </a:ext>
              </a:extLst>
            </p:cNvPr>
            <p:cNvSpPr/>
            <p:nvPr/>
          </p:nvSpPr>
          <p:spPr>
            <a:xfrm>
              <a:off x="0" y="0"/>
              <a:ext cx="4529025" cy="2405750"/>
            </a:xfrm>
            <a:custGeom>
              <a:avLst/>
              <a:gdLst/>
              <a:ahLst/>
              <a:cxnLst/>
              <a:rect l="l" t="t" r="r" b="b"/>
              <a:pathLst>
                <a:path w="4529025" h="2405750">
                  <a:moveTo>
                    <a:pt x="0" y="0"/>
                  </a:moveTo>
                  <a:lnTo>
                    <a:pt x="4529025" y="0"/>
                  </a:lnTo>
                  <a:lnTo>
                    <a:pt x="4529025" y="2405750"/>
                  </a:lnTo>
                  <a:lnTo>
                    <a:pt x="0" y="2405750"/>
                  </a:lnTo>
                  <a:close/>
                </a:path>
              </a:pathLst>
            </a:custGeom>
            <a:solidFill>
              <a:srgbClr val="01529B"/>
            </a:solidFill>
            <a:ln w="161925" cap="sq">
              <a:solidFill>
                <a:srgbClr val="FEFEFE"/>
              </a:solidFill>
              <a:prstDash val="solid"/>
              <a:miter/>
            </a:ln>
          </p:spPr>
          <p:txBody>
            <a:bodyPr/>
            <a:lstStyle/>
            <a:p>
              <a:pPr marL="285750" indent="-285750">
                <a:buFont typeface="Arial" panose="020B0604020202020204" pitchFamily="34" charset="0"/>
                <a:buChar char="•"/>
              </a:pPr>
              <a:endParaRPr lang="en-US"/>
            </a:p>
          </p:txBody>
        </p:sp>
        <p:sp>
          <p:nvSpPr>
            <p:cNvPr id="5" name="TextBox 5">
              <a:extLst>
                <a:ext uri="{FF2B5EF4-FFF2-40B4-BE49-F238E27FC236}">
                  <a16:creationId xmlns:a16="http://schemas.microsoft.com/office/drawing/2014/main" id="{D55C4A95-8934-0089-CA8A-4CA6393B19F0}"/>
                </a:ext>
              </a:extLst>
            </p:cNvPr>
            <p:cNvSpPr txBox="1"/>
            <p:nvPr/>
          </p:nvSpPr>
          <p:spPr>
            <a:xfrm>
              <a:off x="0" y="-66675"/>
              <a:ext cx="4529025" cy="2472425"/>
            </a:xfrm>
            <a:prstGeom prst="rect">
              <a:avLst/>
            </a:prstGeom>
          </p:spPr>
          <p:txBody>
            <a:bodyPr lIns="50800" tIns="50800" rIns="50800" bIns="50800" rtlCol="0" anchor="ctr"/>
            <a:lstStyle/>
            <a:p>
              <a:pPr marL="285750" indent="-285750" algn="ctr">
                <a:lnSpc>
                  <a:spcPts val="4200"/>
                </a:lnSpc>
                <a:buFont typeface="Arial" panose="020B0604020202020204" pitchFamily="34" charset="0"/>
                <a:buChar char="•"/>
              </a:pPr>
              <a:endParaRPr/>
            </a:p>
          </p:txBody>
        </p:sp>
      </p:grpSp>
      <p:sp>
        <p:nvSpPr>
          <p:cNvPr id="6" name="TextBox 6">
            <a:extLst>
              <a:ext uri="{FF2B5EF4-FFF2-40B4-BE49-F238E27FC236}">
                <a16:creationId xmlns:a16="http://schemas.microsoft.com/office/drawing/2014/main" id="{518BEAFD-99BB-3F04-ECDB-DF9B0DF0CDFB}"/>
              </a:ext>
            </a:extLst>
          </p:cNvPr>
          <p:cNvSpPr txBox="1"/>
          <p:nvPr/>
        </p:nvSpPr>
        <p:spPr>
          <a:xfrm>
            <a:off x="4419600" y="1137281"/>
            <a:ext cx="11187690" cy="610039"/>
          </a:xfrm>
          <a:prstGeom prst="rect">
            <a:avLst/>
          </a:prstGeom>
        </p:spPr>
        <p:txBody>
          <a:bodyPr wrap="square" lIns="0" tIns="0" rIns="0" bIns="0" rtlCol="0" anchor="t">
            <a:spAutoFit/>
          </a:bodyPr>
          <a:lstStyle/>
          <a:p>
            <a:pPr algn="ctr">
              <a:lnSpc>
                <a:spcPts val="4515"/>
              </a:lnSpc>
            </a:pPr>
            <a:r>
              <a:rPr lang="en-US" sz="4607" dirty="0">
                <a:solidFill>
                  <a:srgbClr val="FEFEFE"/>
                </a:solidFill>
                <a:latin typeface="League Spartan"/>
                <a:ea typeface="League Spartan"/>
                <a:cs typeface="League Spartan"/>
                <a:sym typeface="League Spartan"/>
              </a:rPr>
              <a:t>SUMMARY – ejections over the years</a:t>
            </a:r>
          </a:p>
        </p:txBody>
      </p:sp>
      <p:pic>
        <p:nvPicPr>
          <p:cNvPr id="13" name="Picture 12">
            <a:extLst>
              <a:ext uri="{FF2B5EF4-FFF2-40B4-BE49-F238E27FC236}">
                <a16:creationId xmlns:a16="http://schemas.microsoft.com/office/drawing/2014/main" id="{4DFAECC8-17D1-4912-C868-7849A2243256}"/>
              </a:ext>
            </a:extLst>
          </p:cNvPr>
          <p:cNvPicPr>
            <a:picLocks noChangeAspect="1"/>
          </p:cNvPicPr>
          <p:nvPr/>
        </p:nvPicPr>
        <p:blipFill>
          <a:blip r:embed="rId4"/>
          <a:stretch>
            <a:fillRect/>
          </a:stretch>
        </p:blipFill>
        <p:spPr>
          <a:xfrm>
            <a:off x="6022462" y="2524912"/>
            <a:ext cx="11422318" cy="5677479"/>
          </a:xfrm>
          <a:prstGeom prst="rect">
            <a:avLst/>
          </a:prstGeom>
        </p:spPr>
      </p:pic>
      <p:sp>
        <p:nvSpPr>
          <p:cNvPr id="14" name="Rectangle 13">
            <a:extLst>
              <a:ext uri="{FF2B5EF4-FFF2-40B4-BE49-F238E27FC236}">
                <a16:creationId xmlns:a16="http://schemas.microsoft.com/office/drawing/2014/main" id="{8EBD074B-0DBD-2090-5B6B-2F9E2C497AF3}"/>
              </a:ext>
            </a:extLst>
          </p:cNvPr>
          <p:cNvSpPr/>
          <p:nvPr/>
        </p:nvSpPr>
        <p:spPr>
          <a:xfrm>
            <a:off x="16080862" y="2815277"/>
            <a:ext cx="609600" cy="4876800"/>
          </a:xfrm>
          <a:prstGeom prst="rect">
            <a:avLst/>
          </a:prstGeom>
          <a:solidFill>
            <a:schemeClr val="accent1">
              <a:alpha val="4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ECB18ED1-8BBB-2F21-F5C2-2363617693A8}"/>
              </a:ext>
            </a:extLst>
          </p:cNvPr>
          <p:cNvSpPr txBox="1"/>
          <p:nvPr/>
        </p:nvSpPr>
        <p:spPr>
          <a:xfrm>
            <a:off x="914400" y="2524912"/>
            <a:ext cx="4953000" cy="3416320"/>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chemeClr val="bg1"/>
                </a:solidFill>
              </a:rPr>
              <a:t>Total ejections over time from </a:t>
            </a:r>
            <a:r>
              <a:rPr lang="en-US" dirty="0" err="1">
                <a:solidFill>
                  <a:schemeClr val="bg1"/>
                </a:solidFill>
              </a:rPr>
              <a:t>Retrosheets</a:t>
            </a:r>
            <a:r>
              <a:rPr lang="en-US" dirty="0">
                <a:solidFill>
                  <a:schemeClr val="bg1"/>
                </a:solidFill>
              </a:rPr>
              <a:t> data from 1889-2024</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dirty="0">
                <a:solidFill>
                  <a:schemeClr val="bg1"/>
                </a:solidFill>
              </a:rPr>
              <a:t>Spike in ejections from 1910-1920 from “dead-ball” era, where they would use one ball for the entire game, leading to lots of arguments/ejections</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dirty="0">
                <a:solidFill>
                  <a:schemeClr val="bg1"/>
                </a:solidFill>
              </a:rPr>
              <a:t>Drop in ejections in 2020 due to COVID</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dirty="0">
                <a:solidFill>
                  <a:schemeClr val="bg1"/>
                </a:solidFill>
              </a:rPr>
              <a:t>2015-2022 highlighted part has data from </a:t>
            </a:r>
            <a:r>
              <a:rPr lang="en-US" dirty="0" err="1">
                <a:solidFill>
                  <a:schemeClr val="bg1"/>
                </a:solidFill>
              </a:rPr>
              <a:t>Umpscorecard</a:t>
            </a:r>
            <a:r>
              <a:rPr lang="en-US" dirty="0">
                <a:solidFill>
                  <a:schemeClr val="bg1"/>
                </a:solidFill>
              </a:rPr>
              <a:t> – 586 ejections</a:t>
            </a:r>
          </a:p>
        </p:txBody>
      </p:sp>
    </p:spTree>
    <p:extLst>
      <p:ext uri="{BB962C8B-B14F-4D97-AF65-F5344CB8AC3E}">
        <p14:creationId xmlns:p14="http://schemas.microsoft.com/office/powerpoint/2010/main" val="2961450803"/>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545930" y="455689"/>
            <a:ext cx="17196141" cy="9134333"/>
            <a:chOff x="0" y="0"/>
            <a:chExt cx="4529025" cy="2405750"/>
          </a:xfrm>
        </p:grpSpPr>
        <p:sp>
          <p:nvSpPr>
            <p:cNvPr id="4" name="Freeform 4"/>
            <p:cNvSpPr/>
            <p:nvPr/>
          </p:nvSpPr>
          <p:spPr>
            <a:xfrm>
              <a:off x="0" y="0"/>
              <a:ext cx="4529025" cy="2405750"/>
            </a:xfrm>
            <a:custGeom>
              <a:avLst/>
              <a:gdLst/>
              <a:ahLst/>
              <a:cxnLst/>
              <a:rect l="l" t="t" r="r" b="b"/>
              <a:pathLst>
                <a:path w="4529025" h="2405750">
                  <a:moveTo>
                    <a:pt x="0" y="0"/>
                  </a:moveTo>
                  <a:lnTo>
                    <a:pt x="4529025" y="0"/>
                  </a:lnTo>
                  <a:lnTo>
                    <a:pt x="4529025" y="2405750"/>
                  </a:lnTo>
                  <a:lnTo>
                    <a:pt x="0" y="2405750"/>
                  </a:lnTo>
                  <a:close/>
                </a:path>
              </a:pathLst>
            </a:custGeom>
            <a:solidFill>
              <a:srgbClr val="01529B"/>
            </a:solidFill>
            <a:ln w="161925" cap="sq">
              <a:solidFill>
                <a:srgbClr val="FEFEFE"/>
              </a:solidFill>
              <a:prstDash val="solid"/>
              <a:miter/>
            </a:ln>
          </p:spPr>
          <p:txBody>
            <a:bodyPr/>
            <a:lstStyle/>
            <a:p>
              <a:endParaRPr lang="en-US"/>
            </a:p>
          </p:txBody>
        </p:sp>
        <p:sp>
          <p:nvSpPr>
            <p:cNvPr id="5" name="TextBox 5"/>
            <p:cNvSpPr txBox="1"/>
            <p:nvPr/>
          </p:nvSpPr>
          <p:spPr>
            <a:xfrm>
              <a:off x="0" y="-66675"/>
              <a:ext cx="4529025" cy="2472425"/>
            </a:xfrm>
            <a:prstGeom prst="rect">
              <a:avLst/>
            </a:prstGeom>
          </p:spPr>
          <p:txBody>
            <a:bodyPr lIns="50800" tIns="50800" rIns="50800" bIns="50800" rtlCol="0" anchor="ctr"/>
            <a:lstStyle/>
            <a:p>
              <a:pPr algn="ctr">
                <a:lnSpc>
                  <a:spcPts val="4200"/>
                </a:lnSpc>
              </a:pPr>
              <a:endParaRPr/>
            </a:p>
          </p:txBody>
        </p:sp>
      </p:grpSp>
      <p:sp>
        <p:nvSpPr>
          <p:cNvPr id="6" name="TextBox 6"/>
          <p:cNvSpPr txBox="1"/>
          <p:nvPr/>
        </p:nvSpPr>
        <p:spPr>
          <a:xfrm>
            <a:off x="6554380" y="1123950"/>
            <a:ext cx="5179241" cy="604985"/>
          </a:xfrm>
          <a:prstGeom prst="rect">
            <a:avLst/>
          </a:prstGeom>
        </p:spPr>
        <p:txBody>
          <a:bodyPr lIns="0" tIns="0" rIns="0" bIns="0" rtlCol="0" anchor="t">
            <a:spAutoFit/>
          </a:bodyPr>
          <a:lstStyle/>
          <a:p>
            <a:pPr algn="ctr">
              <a:lnSpc>
                <a:spcPts val="4515"/>
              </a:lnSpc>
            </a:pPr>
            <a:r>
              <a:rPr lang="en-US" sz="4607">
                <a:solidFill>
                  <a:srgbClr val="FEFEFE"/>
                </a:solidFill>
                <a:latin typeface="League Spartan"/>
                <a:ea typeface="League Spartan"/>
                <a:cs typeface="League Spartan"/>
                <a:sym typeface="League Spartan"/>
              </a:rPr>
              <a:t>SUMMARY</a:t>
            </a:r>
          </a:p>
        </p:txBody>
      </p:sp>
      <p:pic>
        <p:nvPicPr>
          <p:cNvPr id="8" name="Picture 7">
            <a:extLst>
              <a:ext uri="{FF2B5EF4-FFF2-40B4-BE49-F238E27FC236}">
                <a16:creationId xmlns:a16="http://schemas.microsoft.com/office/drawing/2014/main" id="{F52FC713-FF2E-6325-2BF7-385C82D21E4B}"/>
              </a:ext>
            </a:extLst>
          </p:cNvPr>
          <p:cNvPicPr>
            <a:picLocks noChangeAspect="1"/>
          </p:cNvPicPr>
          <p:nvPr/>
        </p:nvPicPr>
        <p:blipFill>
          <a:blip r:embed="rId4"/>
          <a:stretch>
            <a:fillRect/>
          </a:stretch>
        </p:blipFill>
        <p:spPr>
          <a:xfrm>
            <a:off x="7848600" y="2095500"/>
            <a:ext cx="9384875" cy="6674295"/>
          </a:xfrm>
          <a:prstGeom prst="rect">
            <a:avLst/>
          </a:prstGeom>
        </p:spPr>
      </p:pic>
      <p:pic>
        <p:nvPicPr>
          <p:cNvPr id="10" name="Picture 9">
            <a:extLst>
              <a:ext uri="{FF2B5EF4-FFF2-40B4-BE49-F238E27FC236}">
                <a16:creationId xmlns:a16="http://schemas.microsoft.com/office/drawing/2014/main" id="{C3F19890-FED1-0966-15D7-B89B24E42B96}"/>
              </a:ext>
            </a:extLst>
          </p:cNvPr>
          <p:cNvPicPr>
            <a:picLocks noChangeAspect="1"/>
          </p:cNvPicPr>
          <p:nvPr/>
        </p:nvPicPr>
        <p:blipFill>
          <a:blip r:embed="rId5"/>
          <a:stretch>
            <a:fillRect/>
          </a:stretch>
        </p:blipFill>
        <p:spPr>
          <a:xfrm>
            <a:off x="961020" y="6331131"/>
            <a:ext cx="6614615" cy="2407095"/>
          </a:xfrm>
          <a:prstGeom prst="rect">
            <a:avLst/>
          </a:prstGeom>
        </p:spPr>
      </p:pic>
      <p:sp>
        <p:nvSpPr>
          <p:cNvPr id="11" name="TextBox 10">
            <a:extLst>
              <a:ext uri="{FF2B5EF4-FFF2-40B4-BE49-F238E27FC236}">
                <a16:creationId xmlns:a16="http://schemas.microsoft.com/office/drawing/2014/main" id="{81681F0A-0995-DF4D-3DB4-D0669FB0F874}"/>
              </a:ext>
            </a:extLst>
          </p:cNvPr>
          <p:cNvSpPr txBox="1"/>
          <p:nvPr/>
        </p:nvSpPr>
        <p:spPr>
          <a:xfrm>
            <a:off x="1219200" y="1921670"/>
            <a:ext cx="6356435" cy="3813480"/>
          </a:xfrm>
          <a:prstGeom prst="rect">
            <a:avLst/>
          </a:prstGeom>
          <a:noFill/>
        </p:spPr>
        <p:txBody>
          <a:bodyPr wrap="square" rtlCol="0">
            <a:spAutoFit/>
          </a:bodyPr>
          <a:lstStyle/>
          <a:p>
            <a:pPr marL="1238250" lvl="2" indent="-457200">
              <a:lnSpc>
                <a:spcPts val="4200"/>
              </a:lnSpc>
              <a:buFont typeface="Arial" panose="020B0604020202020204" pitchFamily="34" charset="0"/>
              <a:buChar char="•"/>
            </a:pPr>
            <a:r>
              <a:rPr lang="en-US" sz="2400" dirty="0">
                <a:solidFill>
                  <a:srgbClr val="FFFFFF"/>
                </a:solidFill>
                <a:latin typeface="Archivo Black"/>
                <a:ea typeface="Archivo Black"/>
                <a:cs typeface="Archivo Black"/>
                <a:sym typeface="Archivo Black"/>
              </a:rPr>
              <a:t>Combined data from </a:t>
            </a:r>
            <a:r>
              <a:rPr lang="en-US" sz="2400" dirty="0" err="1">
                <a:solidFill>
                  <a:srgbClr val="FFFFFF"/>
                </a:solidFill>
                <a:latin typeface="Archivo Black"/>
                <a:ea typeface="Archivo Black"/>
                <a:cs typeface="Archivo Black"/>
                <a:sym typeface="Archivo Black"/>
              </a:rPr>
              <a:t>retrosheets</a:t>
            </a:r>
            <a:r>
              <a:rPr lang="en-US" sz="2400" dirty="0">
                <a:solidFill>
                  <a:srgbClr val="FFFFFF"/>
                </a:solidFill>
                <a:latin typeface="Archivo Black"/>
                <a:ea typeface="Archivo Black"/>
                <a:cs typeface="Archivo Black"/>
                <a:sym typeface="Archivo Black"/>
              </a:rPr>
              <a:t> csv and </a:t>
            </a:r>
            <a:r>
              <a:rPr lang="en-US" sz="2400" dirty="0" err="1">
                <a:solidFill>
                  <a:srgbClr val="FFFFFF"/>
                </a:solidFill>
                <a:latin typeface="Archivo Black"/>
                <a:ea typeface="Archivo Black"/>
                <a:cs typeface="Archivo Black"/>
                <a:sym typeface="Archivo Black"/>
              </a:rPr>
              <a:t>umpscorecard</a:t>
            </a:r>
            <a:r>
              <a:rPr lang="en-US" sz="2400" dirty="0">
                <a:solidFill>
                  <a:srgbClr val="FFFFFF"/>
                </a:solidFill>
                <a:latin typeface="Archivo Black"/>
                <a:ea typeface="Archivo Black"/>
                <a:cs typeface="Archivo Black"/>
                <a:sym typeface="Archivo Black"/>
              </a:rPr>
              <a:t> csv from 2015 -2022</a:t>
            </a:r>
          </a:p>
          <a:p>
            <a:pPr marL="1238250" lvl="2" indent="-457200">
              <a:lnSpc>
                <a:spcPts val="4200"/>
              </a:lnSpc>
              <a:buFont typeface="Arial" panose="020B0604020202020204" pitchFamily="34" charset="0"/>
              <a:buChar char="•"/>
            </a:pPr>
            <a:r>
              <a:rPr lang="en-US" sz="2400" dirty="0">
                <a:solidFill>
                  <a:srgbClr val="FFFFFF"/>
                </a:solidFill>
                <a:latin typeface="Archivo Black"/>
                <a:ea typeface="Archivo Black"/>
                <a:cs typeface="Archivo Black"/>
                <a:sym typeface="Archivo Black"/>
              </a:rPr>
              <a:t>586 ejections</a:t>
            </a:r>
          </a:p>
          <a:p>
            <a:pPr marL="1238250" lvl="2" indent="-457200">
              <a:lnSpc>
                <a:spcPts val="4200"/>
              </a:lnSpc>
              <a:buFont typeface="Arial" panose="020B0604020202020204" pitchFamily="34" charset="0"/>
              <a:buChar char="•"/>
            </a:pPr>
            <a:r>
              <a:rPr lang="en-US" sz="2400" dirty="0">
                <a:solidFill>
                  <a:srgbClr val="FFFFFF"/>
                </a:solidFill>
                <a:latin typeface="Archivo Black"/>
                <a:ea typeface="Archivo Black"/>
                <a:cs typeface="Archivo Black"/>
                <a:sym typeface="Archivo Black"/>
              </a:rPr>
              <a:t>Teams that got an ejection lost 65.7% of the time</a:t>
            </a: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545930" y="455689"/>
            <a:ext cx="17196141" cy="9134333"/>
            <a:chOff x="0" y="0"/>
            <a:chExt cx="4529025" cy="2405750"/>
          </a:xfrm>
        </p:grpSpPr>
        <p:sp>
          <p:nvSpPr>
            <p:cNvPr id="4" name="Freeform 4"/>
            <p:cNvSpPr/>
            <p:nvPr/>
          </p:nvSpPr>
          <p:spPr>
            <a:xfrm>
              <a:off x="0" y="0"/>
              <a:ext cx="4529025" cy="2405750"/>
            </a:xfrm>
            <a:custGeom>
              <a:avLst/>
              <a:gdLst/>
              <a:ahLst/>
              <a:cxnLst/>
              <a:rect l="l" t="t" r="r" b="b"/>
              <a:pathLst>
                <a:path w="4529025" h="2405750">
                  <a:moveTo>
                    <a:pt x="0" y="0"/>
                  </a:moveTo>
                  <a:lnTo>
                    <a:pt x="4529025" y="0"/>
                  </a:lnTo>
                  <a:lnTo>
                    <a:pt x="4529025" y="2405750"/>
                  </a:lnTo>
                  <a:lnTo>
                    <a:pt x="0" y="2405750"/>
                  </a:lnTo>
                  <a:close/>
                </a:path>
              </a:pathLst>
            </a:custGeom>
            <a:solidFill>
              <a:srgbClr val="01529B"/>
            </a:solidFill>
            <a:ln w="161925" cap="sq">
              <a:solidFill>
                <a:srgbClr val="FEFEFE"/>
              </a:solidFill>
              <a:prstDash val="solid"/>
              <a:miter/>
            </a:ln>
          </p:spPr>
          <p:txBody>
            <a:bodyPr/>
            <a:lstStyle/>
            <a:p>
              <a:endParaRPr lang="en-US"/>
            </a:p>
          </p:txBody>
        </p:sp>
        <p:sp>
          <p:nvSpPr>
            <p:cNvPr id="5" name="TextBox 5"/>
            <p:cNvSpPr txBox="1"/>
            <p:nvPr/>
          </p:nvSpPr>
          <p:spPr>
            <a:xfrm>
              <a:off x="0" y="-66675"/>
              <a:ext cx="4529025" cy="2472425"/>
            </a:xfrm>
            <a:prstGeom prst="rect">
              <a:avLst/>
            </a:prstGeom>
          </p:spPr>
          <p:txBody>
            <a:bodyPr lIns="50800" tIns="50800" rIns="50800" bIns="50800" rtlCol="0" anchor="ctr"/>
            <a:lstStyle/>
            <a:p>
              <a:pPr algn="ctr">
                <a:lnSpc>
                  <a:spcPts val="4200"/>
                </a:lnSpc>
              </a:pPr>
              <a:endParaRPr/>
            </a:p>
          </p:txBody>
        </p:sp>
      </p:grpSp>
      <p:sp>
        <p:nvSpPr>
          <p:cNvPr id="6" name="TextBox 6"/>
          <p:cNvSpPr txBox="1"/>
          <p:nvPr/>
        </p:nvSpPr>
        <p:spPr>
          <a:xfrm>
            <a:off x="6554380" y="1123950"/>
            <a:ext cx="5179241" cy="604985"/>
          </a:xfrm>
          <a:prstGeom prst="rect">
            <a:avLst/>
          </a:prstGeom>
        </p:spPr>
        <p:txBody>
          <a:bodyPr lIns="0" tIns="0" rIns="0" bIns="0" rtlCol="0" anchor="t">
            <a:spAutoFit/>
          </a:bodyPr>
          <a:lstStyle/>
          <a:p>
            <a:pPr algn="ctr">
              <a:lnSpc>
                <a:spcPts val="4515"/>
              </a:lnSpc>
            </a:pPr>
            <a:r>
              <a:rPr lang="en-US" sz="4607">
                <a:solidFill>
                  <a:srgbClr val="FEFEFE"/>
                </a:solidFill>
                <a:latin typeface="League Spartan"/>
                <a:ea typeface="League Spartan"/>
                <a:cs typeface="League Spartan"/>
                <a:sym typeface="League Spartan"/>
              </a:rPr>
              <a:t>SUMMARY</a:t>
            </a:r>
          </a:p>
        </p:txBody>
      </p:sp>
      <p:pic>
        <p:nvPicPr>
          <p:cNvPr id="8" name="Picture 7">
            <a:extLst>
              <a:ext uri="{FF2B5EF4-FFF2-40B4-BE49-F238E27FC236}">
                <a16:creationId xmlns:a16="http://schemas.microsoft.com/office/drawing/2014/main" id="{6584CE6D-5B1A-0A90-2663-B16E41C6E44F}"/>
              </a:ext>
            </a:extLst>
          </p:cNvPr>
          <p:cNvPicPr>
            <a:picLocks noChangeAspect="1"/>
          </p:cNvPicPr>
          <p:nvPr/>
        </p:nvPicPr>
        <p:blipFill>
          <a:blip r:embed="rId4"/>
          <a:stretch>
            <a:fillRect/>
          </a:stretch>
        </p:blipFill>
        <p:spPr>
          <a:xfrm>
            <a:off x="89263" y="5341871"/>
            <a:ext cx="8561105" cy="4248151"/>
          </a:xfrm>
          <a:prstGeom prst="rect">
            <a:avLst/>
          </a:prstGeom>
        </p:spPr>
      </p:pic>
      <p:pic>
        <p:nvPicPr>
          <p:cNvPr id="12" name="Picture 11">
            <a:extLst>
              <a:ext uri="{FF2B5EF4-FFF2-40B4-BE49-F238E27FC236}">
                <a16:creationId xmlns:a16="http://schemas.microsoft.com/office/drawing/2014/main" id="{24BF71BC-9806-2A57-C17E-9570847F895E}"/>
              </a:ext>
            </a:extLst>
          </p:cNvPr>
          <p:cNvPicPr>
            <a:picLocks noChangeAspect="1"/>
          </p:cNvPicPr>
          <p:nvPr/>
        </p:nvPicPr>
        <p:blipFill>
          <a:blip r:embed="rId5"/>
          <a:stretch>
            <a:fillRect/>
          </a:stretch>
        </p:blipFill>
        <p:spPr>
          <a:xfrm>
            <a:off x="8650368" y="5117432"/>
            <a:ext cx="9233995" cy="4582050"/>
          </a:xfrm>
          <a:prstGeom prst="rect">
            <a:avLst/>
          </a:prstGeom>
        </p:spPr>
      </p:pic>
      <p:sp>
        <p:nvSpPr>
          <p:cNvPr id="13" name="TextBox 12">
            <a:extLst>
              <a:ext uri="{FF2B5EF4-FFF2-40B4-BE49-F238E27FC236}">
                <a16:creationId xmlns:a16="http://schemas.microsoft.com/office/drawing/2014/main" id="{DED74FAC-E475-543C-F408-6BE1A2739092}"/>
              </a:ext>
            </a:extLst>
          </p:cNvPr>
          <p:cNvSpPr txBox="1"/>
          <p:nvPr/>
        </p:nvSpPr>
        <p:spPr>
          <a:xfrm>
            <a:off x="1219200" y="1921670"/>
            <a:ext cx="13563600" cy="2197653"/>
          </a:xfrm>
          <a:prstGeom prst="rect">
            <a:avLst/>
          </a:prstGeom>
          <a:noFill/>
        </p:spPr>
        <p:txBody>
          <a:bodyPr wrap="square" rtlCol="0">
            <a:spAutoFit/>
          </a:bodyPr>
          <a:lstStyle/>
          <a:p>
            <a:pPr marL="1238250" lvl="2" indent="-457200">
              <a:lnSpc>
                <a:spcPts val="4200"/>
              </a:lnSpc>
              <a:buFont typeface="Arial" panose="020B0604020202020204" pitchFamily="34" charset="0"/>
              <a:buChar char="•"/>
            </a:pPr>
            <a:r>
              <a:rPr lang="en-US" sz="2400" dirty="0">
                <a:solidFill>
                  <a:srgbClr val="FFFFFF"/>
                </a:solidFill>
                <a:latin typeface="Archivo Black"/>
                <a:ea typeface="Archivo Black"/>
                <a:cs typeface="Archivo Black"/>
                <a:sym typeface="Archivo Black"/>
              </a:rPr>
              <a:t>Used date and game location to get weather data using MLB API</a:t>
            </a:r>
          </a:p>
          <a:p>
            <a:pPr marL="1238250" lvl="2" indent="-457200">
              <a:lnSpc>
                <a:spcPts val="4200"/>
              </a:lnSpc>
              <a:buFont typeface="Arial" panose="020B0604020202020204" pitchFamily="34" charset="0"/>
              <a:buChar char="•"/>
            </a:pPr>
            <a:r>
              <a:rPr lang="en-US" sz="2400" dirty="0">
                <a:solidFill>
                  <a:srgbClr val="FFFFFF"/>
                </a:solidFill>
                <a:latin typeface="Archivo Black"/>
                <a:ea typeface="Archivo Black"/>
                <a:cs typeface="Archivo Black"/>
                <a:sym typeface="Archivo Black"/>
              </a:rPr>
              <a:t>Most ejections occurred when the weather was partly cloudy</a:t>
            </a:r>
          </a:p>
          <a:p>
            <a:pPr marL="1238250" lvl="2" indent="-457200">
              <a:lnSpc>
                <a:spcPts val="4200"/>
              </a:lnSpc>
              <a:buFont typeface="Arial" panose="020B0604020202020204" pitchFamily="34" charset="0"/>
              <a:buChar char="•"/>
            </a:pPr>
            <a:r>
              <a:rPr lang="en-US" sz="2400" dirty="0">
                <a:solidFill>
                  <a:srgbClr val="FFFFFF"/>
                </a:solidFill>
                <a:latin typeface="Archivo Black"/>
                <a:ea typeface="Archivo Black"/>
                <a:cs typeface="Archivo Black"/>
                <a:sym typeface="Archivo Black"/>
              </a:rPr>
              <a:t>Temperature was around 70F</a:t>
            </a:r>
          </a:p>
          <a:p>
            <a:pPr marL="1238250" lvl="2" indent="-457200">
              <a:lnSpc>
                <a:spcPts val="4200"/>
              </a:lnSpc>
              <a:buFont typeface="Arial" panose="020B0604020202020204" pitchFamily="34" charset="0"/>
              <a:buChar char="•"/>
            </a:pPr>
            <a:endParaRPr lang="en-US" sz="2400" dirty="0">
              <a:solidFill>
                <a:srgbClr val="FFFFFF"/>
              </a:solidFill>
              <a:latin typeface="Archivo Black"/>
              <a:ea typeface="Archivo Black"/>
              <a:cs typeface="Archivo Black"/>
              <a:sym typeface="Archivo Black"/>
            </a:endParaRP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grpSp>
        <p:nvGrpSpPr>
          <p:cNvPr id="3" name="Group 3"/>
          <p:cNvGrpSpPr/>
          <p:nvPr/>
        </p:nvGrpSpPr>
        <p:grpSpPr>
          <a:xfrm>
            <a:off x="545929" y="419100"/>
            <a:ext cx="17196141" cy="9134333"/>
            <a:chOff x="0" y="0"/>
            <a:chExt cx="4529025" cy="2405750"/>
          </a:xfrm>
        </p:grpSpPr>
        <p:sp>
          <p:nvSpPr>
            <p:cNvPr id="4" name="Freeform 4"/>
            <p:cNvSpPr/>
            <p:nvPr/>
          </p:nvSpPr>
          <p:spPr>
            <a:xfrm>
              <a:off x="0" y="0"/>
              <a:ext cx="4529025" cy="2405750"/>
            </a:xfrm>
            <a:custGeom>
              <a:avLst/>
              <a:gdLst/>
              <a:ahLst/>
              <a:cxnLst/>
              <a:rect l="l" t="t" r="r" b="b"/>
              <a:pathLst>
                <a:path w="4529025" h="2405750">
                  <a:moveTo>
                    <a:pt x="0" y="0"/>
                  </a:moveTo>
                  <a:lnTo>
                    <a:pt x="4529025" y="0"/>
                  </a:lnTo>
                  <a:lnTo>
                    <a:pt x="4529025" y="2405750"/>
                  </a:lnTo>
                  <a:lnTo>
                    <a:pt x="0" y="2405750"/>
                  </a:lnTo>
                  <a:close/>
                </a:path>
              </a:pathLst>
            </a:custGeom>
            <a:solidFill>
              <a:srgbClr val="01529B"/>
            </a:solidFill>
            <a:ln w="161925" cap="sq">
              <a:solidFill>
                <a:srgbClr val="FEFEFE"/>
              </a:solidFill>
              <a:prstDash val="solid"/>
              <a:miter/>
            </a:ln>
          </p:spPr>
          <p:txBody>
            <a:bodyPr/>
            <a:lstStyle/>
            <a:p>
              <a:pPr marL="342900" indent="-342900">
                <a:buFont typeface="+mj-lt"/>
                <a:buAutoNum type="arabicPeriod"/>
              </a:pPr>
              <a:endParaRPr lang="en-US"/>
            </a:p>
          </p:txBody>
        </p:sp>
        <p:sp>
          <p:nvSpPr>
            <p:cNvPr id="5" name="TextBox 5"/>
            <p:cNvSpPr txBox="1"/>
            <p:nvPr/>
          </p:nvSpPr>
          <p:spPr>
            <a:xfrm>
              <a:off x="0" y="-66675"/>
              <a:ext cx="4529025" cy="2472425"/>
            </a:xfrm>
            <a:prstGeom prst="rect">
              <a:avLst/>
            </a:prstGeom>
          </p:spPr>
          <p:txBody>
            <a:bodyPr lIns="50800" tIns="50800" rIns="50800" bIns="50800" rtlCol="0" anchor="ctr"/>
            <a:lstStyle/>
            <a:p>
              <a:pPr marL="342900" indent="-342900" algn="ctr">
                <a:lnSpc>
                  <a:spcPts val="4200"/>
                </a:lnSpc>
                <a:buFont typeface="+mj-lt"/>
                <a:buAutoNum type="arabicPeriod"/>
              </a:pPr>
              <a:endParaRPr/>
            </a:p>
          </p:txBody>
        </p:sp>
      </p:grpSp>
      <p:sp>
        <p:nvSpPr>
          <p:cNvPr id="6" name="TextBox 6"/>
          <p:cNvSpPr txBox="1"/>
          <p:nvPr/>
        </p:nvSpPr>
        <p:spPr>
          <a:xfrm>
            <a:off x="6554380" y="1123950"/>
            <a:ext cx="5179241" cy="604985"/>
          </a:xfrm>
          <a:prstGeom prst="rect">
            <a:avLst/>
          </a:prstGeom>
        </p:spPr>
        <p:txBody>
          <a:bodyPr lIns="0" tIns="0" rIns="0" bIns="0" rtlCol="0" anchor="t">
            <a:spAutoFit/>
          </a:bodyPr>
          <a:lstStyle/>
          <a:p>
            <a:pPr algn="ctr">
              <a:lnSpc>
                <a:spcPts val="4515"/>
              </a:lnSpc>
            </a:pPr>
            <a:r>
              <a:rPr lang="en-US" sz="4607">
                <a:solidFill>
                  <a:srgbClr val="FEFEFE"/>
                </a:solidFill>
                <a:latin typeface="League Spartan"/>
                <a:ea typeface="League Spartan"/>
                <a:cs typeface="League Spartan"/>
                <a:sym typeface="League Spartan"/>
              </a:rPr>
              <a:t>CHALLENGES</a:t>
            </a:r>
          </a:p>
        </p:txBody>
      </p:sp>
      <p:sp>
        <p:nvSpPr>
          <p:cNvPr id="7" name="TextBox 6">
            <a:extLst>
              <a:ext uri="{FF2B5EF4-FFF2-40B4-BE49-F238E27FC236}">
                <a16:creationId xmlns:a16="http://schemas.microsoft.com/office/drawing/2014/main" id="{E6149517-AE29-0FD7-427C-D238FEF88434}"/>
              </a:ext>
            </a:extLst>
          </p:cNvPr>
          <p:cNvSpPr txBox="1"/>
          <p:nvPr/>
        </p:nvSpPr>
        <p:spPr>
          <a:xfrm>
            <a:off x="1219200" y="1921670"/>
            <a:ext cx="16040100" cy="5989332"/>
          </a:xfrm>
          <a:prstGeom prst="rect">
            <a:avLst/>
          </a:prstGeom>
          <a:noFill/>
        </p:spPr>
        <p:txBody>
          <a:bodyPr wrap="square" rtlCol="0">
            <a:spAutoFit/>
          </a:bodyPr>
          <a:lstStyle/>
          <a:p>
            <a:pPr marL="1295400" lvl="2" indent="-514350">
              <a:lnSpc>
                <a:spcPts val="4200"/>
              </a:lnSpc>
              <a:buFont typeface="+mj-lt"/>
              <a:buAutoNum type="arabicPeriod"/>
            </a:pPr>
            <a:r>
              <a:rPr lang="en-US" sz="3000" dirty="0">
                <a:solidFill>
                  <a:srgbClr val="FFFFFF"/>
                </a:solidFill>
                <a:latin typeface="Archivo Black"/>
                <a:ea typeface="Archivo Black"/>
                <a:cs typeface="Archivo Black"/>
                <a:sym typeface="Archivo Black"/>
              </a:rPr>
              <a:t>Baseball generates a lot of data - overwhelming</a:t>
            </a:r>
          </a:p>
          <a:p>
            <a:pPr marL="1752600" lvl="3" indent="-514350">
              <a:lnSpc>
                <a:spcPts val="4200"/>
              </a:lnSpc>
              <a:buFont typeface="Arial" panose="020B0604020202020204" pitchFamily="34" charset="0"/>
              <a:buChar char="•"/>
            </a:pPr>
            <a:r>
              <a:rPr lang="en-US" sz="3000" dirty="0">
                <a:solidFill>
                  <a:srgbClr val="FFFFFF"/>
                </a:solidFill>
                <a:latin typeface="Archivo Black"/>
                <a:ea typeface="Archivo Black"/>
                <a:cs typeface="Archivo Black"/>
                <a:sym typeface="Archivo Black"/>
              </a:rPr>
              <a:t>Each team plays 162 games a season</a:t>
            </a:r>
          </a:p>
          <a:p>
            <a:pPr marL="1752600" lvl="3" indent="-514350">
              <a:lnSpc>
                <a:spcPts val="4200"/>
              </a:lnSpc>
              <a:buFont typeface="Arial" panose="020B0604020202020204" pitchFamily="34" charset="0"/>
              <a:buChar char="•"/>
            </a:pPr>
            <a:r>
              <a:rPr lang="en-US" sz="3000" dirty="0">
                <a:solidFill>
                  <a:srgbClr val="FFFFFF"/>
                </a:solidFill>
                <a:latin typeface="Archivo Black"/>
                <a:ea typeface="Archivo Black"/>
                <a:cs typeface="Archivo Black"/>
                <a:sym typeface="Archivo Black"/>
              </a:rPr>
              <a:t>30 teams</a:t>
            </a:r>
          </a:p>
          <a:p>
            <a:pPr marL="1752600" lvl="3" indent="-514350">
              <a:lnSpc>
                <a:spcPts val="4200"/>
              </a:lnSpc>
              <a:buFont typeface="Arial" panose="020B0604020202020204" pitchFamily="34" charset="0"/>
              <a:buChar char="•"/>
            </a:pPr>
            <a:r>
              <a:rPr lang="en-US" sz="3000" dirty="0">
                <a:solidFill>
                  <a:srgbClr val="FFFFFF"/>
                </a:solidFill>
                <a:latin typeface="Archivo Black"/>
                <a:ea typeface="Archivo Black"/>
                <a:cs typeface="Archivo Black"/>
                <a:sym typeface="Archivo Black"/>
              </a:rPr>
              <a:t>2430 games played in a season</a:t>
            </a:r>
          </a:p>
          <a:p>
            <a:pPr marL="1295400" lvl="2" indent="-514350">
              <a:lnSpc>
                <a:spcPts val="4200"/>
              </a:lnSpc>
              <a:buFont typeface="+mj-lt"/>
              <a:buAutoNum type="arabicPeriod"/>
            </a:pPr>
            <a:r>
              <a:rPr lang="en-US" sz="3000" dirty="0">
                <a:solidFill>
                  <a:srgbClr val="FFFFFF"/>
                </a:solidFill>
                <a:latin typeface="Archivo Black"/>
                <a:ea typeface="Archivo Black"/>
                <a:cs typeface="Archivo Black"/>
                <a:sym typeface="Archivo Black"/>
              </a:rPr>
              <a:t>Getting my data sets to work with one another</a:t>
            </a:r>
          </a:p>
          <a:p>
            <a:pPr marL="1752600" lvl="3" indent="-514350">
              <a:lnSpc>
                <a:spcPts val="4200"/>
              </a:lnSpc>
              <a:buFont typeface="Arial" panose="020B0604020202020204" pitchFamily="34" charset="0"/>
              <a:buChar char="•"/>
            </a:pPr>
            <a:r>
              <a:rPr lang="en-US" sz="3000" dirty="0" err="1">
                <a:solidFill>
                  <a:srgbClr val="FFFFFF"/>
                </a:solidFill>
                <a:latin typeface="Archivo Black"/>
                <a:ea typeface="Archivo Black"/>
                <a:cs typeface="Archivo Black"/>
                <a:sym typeface="Archivo Black"/>
              </a:rPr>
              <a:t>Retrosheets</a:t>
            </a:r>
            <a:r>
              <a:rPr lang="en-US" sz="3000" dirty="0">
                <a:solidFill>
                  <a:srgbClr val="FFFFFF"/>
                </a:solidFill>
                <a:latin typeface="Archivo Black"/>
                <a:ea typeface="Archivo Black"/>
                <a:cs typeface="Archivo Black"/>
                <a:sym typeface="Archivo Black"/>
              </a:rPr>
              <a:t> </a:t>
            </a:r>
            <a:r>
              <a:rPr lang="en-US" sz="3000" dirty="0" err="1">
                <a:solidFill>
                  <a:srgbClr val="FFFFFF"/>
                </a:solidFill>
                <a:latin typeface="Archivo Black"/>
                <a:ea typeface="Archivo Black"/>
                <a:cs typeface="Archivo Black"/>
                <a:sym typeface="Archivo Black"/>
              </a:rPr>
              <a:t>gameID</a:t>
            </a:r>
            <a:r>
              <a:rPr lang="en-US" sz="3000" dirty="0">
                <a:solidFill>
                  <a:srgbClr val="FFFFFF"/>
                </a:solidFill>
                <a:latin typeface="Archivo Black"/>
                <a:ea typeface="Archivo Black"/>
                <a:cs typeface="Archivo Black"/>
                <a:sym typeface="Archivo Black"/>
              </a:rPr>
              <a:t> was different format from MLB game ID format, so figuring out a method to convert took time</a:t>
            </a:r>
          </a:p>
          <a:p>
            <a:pPr marL="1295400" lvl="2" indent="-514350">
              <a:lnSpc>
                <a:spcPts val="4200"/>
              </a:lnSpc>
              <a:buFont typeface="+mj-lt"/>
              <a:buAutoNum type="arabicPeriod"/>
            </a:pPr>
            <a:r>
              <a:rPr lang="en-US" sz="3000" dirty="0">
                <a:solidFill>
                  <a:srgbClr val="FFFFFF"/>
                </a:solidFill>
                <a:latin typeface="Archivo Black"/>
                <a:ea typeface="Archivo Black"/>
                <a:cs typeface="Archivo Black"/>
                <a:sym typeface="Archivo Black"/>
              </a:rPr>
              <a:t>Learning to use Python this semester	</a:t>
            </a:r>
          </a:p>
          <a:p>
            <a:pPr marL="1752600" lvl="3" indent="-514350">
              <a:lnSpc>
                <a:spcPts val="4200"/>
              </a:lnSpc>
              <a:buFont typeface="+mj-lt"/>
              <a:buAutoNum type="arabicPeriod"/>
            </a:pPr>
            <a:endParaRPr lang="en-US" sz="3000" dirty="0">
              <a:solidFill>
                <a:srgbClr val="FFFFFF"/>
              </a:solidFill>
              <a:latin typeface="Archivo Black"/>
              <a:ea typeface="Archivo Black"/>
              <a:cs typeface="Archivo Black"/>
              <a:sym typeface="Archivo Black"/>
            </a:endParaRPr>
          </a:p>
          <a:p>
            <a:pPr marL="1238250" lvl="3">
              <a:lnSpc>
                <a:spcPts val="4200"/>
              </a:lnSpc>
            </a:pPr>
            <a:r>
              <a:rPr lang="en-US" sz="3000" dirty="0">
                <a:solidFill>
                  <a:srgbClr val="FFFFFF"/>
                </a:solidFill>
                <a:latin typeface="Archivo Black"/>
                <a:ea typeface="Archivo Black"/>
                <a:cs typeface="Archivo Black"/>
                <a:sym typeface="Archivo Black"/>
              </a:rPr>
              <a:t>Overall had fun learning through the struggles!</a:t>
            </a:r>
          </a:p>
          <a:p>
            <a:pPr marL="1752600" lvl="3" indent="-514350">
              <a:lnSpc>
                <a:spcPts val="4200"/>
              </a:lnSpc>
              <a:buFont typeface="Arial" panose="020B0604020202020204" pitchFamily="34" charset="0"/>
              <a:buChar char="•"/>
            </a:pPr>
            <a:endParaRPr lang="en-US" sz="3000" dirty="0">
              <a:solidFill>
                <a:srgbClr val="FFFFFF"/>
              </a:solidFill>
              <a:latin typeface="Archivo Black"/>
              <a:ea typeface="Archivo Black"/>
              <a:cs typeface="Archivo Black"/>
              <a:sym typeface="Archivo Black"/>
            </a:endParaRP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grpSp>
        <p:nvGrpSpPr>
          <p:cNvPr id="3" name="Group 3"/>
          <p:cNvGrpSpPr/>
          <p:nvPr/>
        </p:nvGrpSpPr>
        <p:grpSpPr>
          <a:xfrm>
            <a:off x="-764570" y="3486674"/>
            <a:ext cx="19817140" cy="2397559"/>
            <a:chOff x="0" y="0"/>
            <a:chExt cx="5219329" cy="631456"/>
          </a:xfrm>
        </p:grpSpPr>
        <p:sp>
          <p:nvSpPr>
            <p:cNvPr id="4" name="Freeform 4"/>
            <p:cNvSpPr/>
            <p:nvPr/>
          </p:nvSpPr>
          <p:spPr>
            <a:xfrm>
              <a:off x="0" y="0"/>
              <a:ext cx="5219329" cy="631456"/>
            </a:xfrm>
            <a:custGeom>
              <a:avLst/>
              <a:gdLst/>
              <a:ahLst/>
              <a:cxnLst/>
              <a:rect l="l" t="t" r="r" b="b"/>
              <a:pathLst>
                <a:path w="5219329" h="631456">
                  <a:moveTo>
                    <a:pt x="0" y="0"/>
                  </a:moveTo>
                  <a:lnTo>
                    <a:pt x="5219329" y="0"/>
                  </a:lnTo>
                  <a:lnTo>
                    <a:pt x="5219329" y="631456"/>
                  </a:lnTo>
                  <a:lnTo>
                    <a:pt x="0" y="631456"/>
                  </a:lnTo>
                  <a:close/>
                </a:path>
              </a:pathLst>
            </a:custGeom>
            <a:solidFill>
              <a:srgbClr val="01529B"/>
            </a:solidFill>
            <a:ln w="161925" cap="sq">
              <a:solidFill>
                <a:srgbClr val="FEFEFE"/>
              </a:solidFill>
              <a:prstDash val="solid"/>
              <a:miter/>
            </a:ln>
          </p:spPr>
          <p:txBody>
            <a:bodyPr/>
            <a:lstStyle/>
            <a:p>
              <a:endParaRPr lang="en-US"/>
            </a:p>
          </p:txBody>
        </p:sp>
        <p:sp>
          <p:nvSpPr>
            <p:cNvPr id="5" name="TextBox 5"/>
            <p:cNvSpPr txBox="1"/>
            <p:nvPr/>
          </p:nvSpPr>
          <p:spPr>
            <a:xfrm>
              <a:off x="0" y="-66675"/>
              <a:ext cx="5219329" cy="698131"/>
            </a:xfrm>
            <a:prstGeom prst="rect">
              <a:avLst/>
            </a:prstGeom>
          </p:spPr>
          <p:txBody>
            <a:bodyPr lIns="50800" tIns="50800" rIns="50800" bIns="50800" rtlCol="0" anchor="ctr"/>
            <a:lstStyle/>
            <a:p>
              <a:pPr algn="ctr">
                <a:lnSpc>
                  <a:spcPts val="4200"/>
                </a:lnSpc>
              </a:pPr>
              <a:endParaRPr/>
            </a:p>
          </p:txBody>
        </p:sp>
      </p:grpSp>
      <p:sp>
        <p:nvSpPr>
          <p:cNvPr id="6" name="Freeform 6"/>
          <p:cNvSpPr/>
          <p:nvPr/>
        </p:nvSpPr>
        <p:spPr>
          <a:xfrm>
            <a:off x="5553235" y="1708054"/>
            <a:ext cx="7181529" cy="7328091"/>
          </a:xfrm>
          <a:custGeom>
            <a:avLst/>
            <a:gdLst/>
            <a:ahLst/>
            <a:cxnLst/>
            <a:rect l="l" t="t" r="r" b="b"/>
            <a:pathLst>
              <a:path w="7181529" h="7328091">
                <a:moveTo>
                  <a:pt x="0" y="0"/>
                </a:moveTo>
                <a:lnTo>
                  <a:pt x="7181530" y="0"/>
                </a:lnTo>
                <a:lnTo>
                  <a:pt x="7181530" y="7328092"/>
                </a:lnTo>
                <a:lnTo>
                  <a:pt x="0" y="7328092"/>
                </a:lnTo>
                <a:lnTo>
                  <a:pt x="0" y="0"/>
                </a:lnTo>
                <a:close/>
              </a:path>
            </a:pathLst>
          </a:custGeom>
          <a:blipFill>
            <a:blip r:embed="rId3"/>
            <a:stretch>
              <a:fillRect/>
            </a:stretch>
          </a:blipFill>
        </p:spPr>
        <p:txBody>
          <a:bodyPr/>
          <a:lstStyle/>
          <a:p>
            <a:endParaRPr lang="en-US"/>
          </a:p>
        </p:txBody>
      </p:sp>
      <p:sp>
        <p:nvSpPr>
          <p:cNvPr id="7" name="AutoShape 7"/>
          <p:cNvSpPr/>
          <p:nvPr/>
        </p:nvSpPr>
        <p:spPr>
          <a:xfrm>
            <a:off x="6749659" y="3534682"/>
            <a:ext cx="1672573" cy="19050"/>
          </a:xfrm>
          <a:prstGeom prst="line">
            <a:avLst/>
          </a:prstGeom>
          <a:ln w="28575" cap="flat">
            <a:solidFill>
              <a:srgbClr val="FFFFFF"/>
            </a:solidFill>
            <a:prstDash val="solid"/>
            <a:headEnd type="none" w="sm" len="sm"/>
            <a:tailEnd type="none" w="sm" len="sm"/>
          </a:ln>
        </p:spPr>
        <p:txBody>
          <a:bodyPr/>
          <a:lstStyle/>
          <a:p>
            <a:endParaRPr lang="en-US"/>
          </a:p>
        </p:txBody>
      </p:sp>
      <p:sp>
        <p:nvSpPr>
          <p:cNvPr id="8" name="AutoShape 8"/>
          <p:cNvSpPr/>
          <p:nvPr/>
        </p:nvSpPr>
        <p:spPr>
          <a:xfrm>
            <a:off x="9865877" y="3525157"/>
            <a:ext cx="1672573" cy="19050"/>
          </a:xfrm>
          <a:prstGeom prst="line">
            <a:avLst/>
          </a:prstGeom>
          <a:ln w="28575" cap="flat">
            <a:solidFill>
              <a:srgbClr val="FFFFFF"/>
            </a:solidFill>
            <a:prstDash val="solid"/>
            <a:headEnd type="none" w="sm" len="sm"/>
            <a:tailEnd type="none" w="sm" len="sm"/>
          </a:ln>
        </p:spPr>
        <p:txBody>
          <a:bodyPr/>
          <a:lstStyle/>
          <a:p>
            <a:endParaRPr lang="en-US"/>
          </a:p>
        </p:txBody>
      </p:sp>
      <p:sp>
        <p:nvSpPr>
          <p:cNvPr id="10" name="TextBox 10"/>
          <p:cNvSpPr txBox="1"/>
          <p:nvPr/>
        </p:nvSpPr>
        <p:spPr>
          <a:xfrm>
            <a:off x="5994975" y="4397302"/>
            <a:ext cx="6298051" cy="1754326"/>
          </a:xfrm>
          <a:prstGeom prst="rect">
            <a:avLst/>
          </a:prstGeom>
        </p:spPr>
        <p:txBody>
          <a:bodyPr lIns="0" tIns="0" rIns="0" bIns="0" rtlCol="0" anchor="t">
            <a:spAutoFit/>
          </a:bodyPr>
          <a:lstStyle/>
          <a:p>
            <a:pPr algn="ctr">
              <a:lnSpc>
                <a:spcPts val="7178"/>
              </a:lnSpc>
            </a:pPr>
            <a:r>
              <a:rPr lang="en-US" sz="3600" dirty="0">
                <a:solidFill>
                  <a:srgbClr val="FEFEFE"/>
                </a:solidFill>
                <a:latin typeface="League Spartan"/>
                <a:ea typeface="League Spartan"/>
                <a:cs typeface="League Spartan"/>
                <a:sym typeface="League Spartan"/>
              </a:rPr>
              <a:t>THANK YOU</a:t>
            </a:r>
            <a:br>
              <a:rPr lang="en-US" sz="3600" dirty="0">
                <a:solidFill>
                  <a:srgbClr val="FEFEFE"/>
                </a:solidFill>
                <a:latin typeface="League Spartan"/>
                <a:ea typeface="League Spartan"/>
                <a:cs typeface="League Spartan"/>
                <a:sym typeface="League Spartan"/>
              </a:rPr>
            </a:br>
            <a:r>
              <a:rPr lang="en-US" sz="3600" dirty="0">
                <a:solidFill>
                  <a:srgbClr val="FEFEFE"/>
                </a:solidFill>
                <a:latin typeface="League Spartan"/>
                <a:ea typeface="League Spartan"/>
                <a:cs typeface="League Spartan"/>
                <a:sym typeface="League Spartan"/>
              </a:rPr>
              <a:t>Questions?</a:t>
            </a:r>
          </a:p>
        </p:txBody>
      </p:sp>
      <p:pic>
        <p:nvPicPr>
          <p:cNvPr id="11" name="Picture 2" descr="Spinning Baseball Stickers - Find &amp; Share on GIPHY">
            <a:extLst>
              <a:ext uri="{FF2B5EF4-FFF2-40B4-BE49-F238E27FC236}">
                <a16:creationId xmlns:a16="http://schemas.microsoft.com/office/drawing/2014/main" id="{483B38CA-8478-7429-8888-A0A1D0261F5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563939" y="2997314"/>
            <a:ext cx="1074736" cy="107473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cove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0b1f5921-cfc0-430b-96e1-8c58575e7499}" enabled="1" method="Standard" siteId="{a63249ac-3e0b-4a24-9e0c-c90ab9891e30}" contentBits="2" removed="0"/>
</clbl:labelList>
</file>

<file path=docProps/app.xml><?xml version="1.0" encoding="utf-8"?>
<Properties xmlns="http://schemas.openxmlformats.org/officeDocument/2006/extended-properties" xmlns:vt="http://schemas.openxmlformats.org/officeDocument/2006/docPropsVTypes">
  <TotalTime>2</TotalTime>
  <Words>605</Words>
  <Application>Microsoft Office PowerPoint</Application>
  <PresentationFormat>Custom</PresentationFormat>
  <Paragraphs>83</Paragraphs>
  <Slides>9</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Aptos</vt:lpstr>
      <vt:lpstr>Archivo Black</vt:lpstr>
      <vt:lpstr>Arial</vt:lpstr>
      <vt:lpstr>League Spartan</vt:lpstr>
      <vt:lpstr>Calibri</vt:lpstr>
      <vt:lpstr>Adobe Caslon 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Presentation</dc:title>
  <cp:lastModifiedBy>Ayala-Rivera, Bryan</cp:lastModifiedBy>
  <cp:revision>2</cp:revision>
  <dcterms:created xsi:type="dcterms:W3CDTF">2006-08-16T00:00:00Z</dcterms:created>
  <dcterms:modified xsi:type="dcterms:W3CDTF">2025-11-25T05:37:09Z</dcterms:modified>
  <dc:identifier>DAG5qPCgB6w</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Theme:8</vt:lpwstr>
  </property>
  <property fmtid="{D5CDD505-2E9C-101B-9397-08002B2CF9AE}" pid="3" name="ClassificationContentMarkingFooterText">
    <vt:lpwstr>INTERNAL</vt:lpwstr>
  </property>
</Properties>
</file>